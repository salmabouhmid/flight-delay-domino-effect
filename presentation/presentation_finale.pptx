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 de vols en retard</c:v>
                </c:pt>
              </c:strCache>
            </c:strRef>
          </c:tx>
          <c:spPr>
            <a:solidFill>
              <a:srgbClr val="EB6834"/>
            </a:solidFill>
            <a:ln w="381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B6834"/>
              </a:solidFill>
              <a:ln w="9525" cap="flat">
                <a:solidFill>
                  <a:srgbClr val="EB6834"/>
                </a:solidFill>
                <a:prstDash val="solid"/>
                <a:round/>
              </a:ln>
              <a:effectLst/>
            </c:spPr>
          </c:marker>
          <c:cat>
            <c:multiLvlStrRef>
              <c:f>Sheet1!$A$2:$A$20</c:f>
              <c:multiLvlStrCache>
                <c:ptCount val="19"/>
                <c:lvl>
                  <c:pt idx="0">
                    <c:v>5 h</c:v>
                  </c:pt>
                  <c:pt idx="1">
                    <c:v>6 h</c:v>
                  </c:pt>
                  <c:pt idx="2">
                    <c:v>7 h</c:v>
                  </c:pt>
                  <c:pt idx="3">
                    <c:v>8 h</c:v>
                  </c:pt>
                  <c:pt idx="4">
                    <c:v>9 h</c:v>
                  </c:pt>
                  <c:pt idx="5">
                    <c:v>10 h</c:v>
                  </c:pt>
                  <c:pt idx="6">
                    <c:v>11 h</c:v>
                  </c:pt>
                  <c:pt idx="7">
                    <c:v>12 h</c:v>
                  </c:pt>
                  <c:pt idx="8">
                    <c:v>13 h</c:v>
                  </c:pt>
                  <c:pt idx="9">
                    <c:v>14 h</c:v>
                  </c:pt>
                  <c:pt idx="10">
                    <c:v>15 h</c:v>
                  </c:pt>
                  <c:pt idx="11">
                    <c:v>16 h</c:v>
                  </c:pt>
                  <c:pt idx="12">
                    <c:v>17 h</c:v>
                  </c:pt>
                  <c:pt idx="13">
                    <c:v>18 h</c:v>
                  </c:pt>
                  <c:pt idx="14">
                    <c:v>19 h</c:v>
                  </c:pt>
                  <c:pt idx="15">
                    <c:v>20 h</c:v>
                  </c:pt>
                  <c:pt idx="16">
                    <c:v>21 h</c:v>
                  </c:pt>
                  <c:pt idx="17">
                    <c:v>22 h</c:v>
                  </c:pt>
                  <c:pt idx="18">
                    <c:v>23 h</c:v>
                  </c:pt>
                </c:lvl>
              </c:multiLvlStrCache>
            </c:multiLvlStrRef>
          </c:cat>
          <c:val>
            <c:numRef>
              <c:f>Sheet1!$B$2:$B$20</c:f>
              <c:numCache>
                <c:formatCode>General</c:formatCode>
                <c:ptCount val="19"/>
                <c:pt idx="0">
                  <c:v>11.7</c:v>
                </c:pt>
                <c:pt idx="1">
                  <c:v>12.9</c:v>
                </c:pt>
                <c:pt idx="2">
                  <c:v>13.5</c:v>
                </c:pt>
                <c:pt idx="3">
                  <c:v>14</c:v>
                </c:pt>
                <c:pt idx="4">
                  <c:v>17.5</c:v>
                </c:pt>
                <c:pt idx="5">
                  <c:v>18</c:v>
                </c:pt>
                <c:pt idx="6">
                  <c:v>20.5</c:v>
                </c:pt>
                <c:pt idx="7">
                  <c:v>21</c:v>
                </c:pt>
                <c:pt idx="8">
                  <c:v>22.7</c:v>
                </c:pt>
                <c:pt idx="9">
                  <c:v>24.4</c:v>
                </c:pt>
                <c:pt idx="10">
                  <c:v>26</c:v>
                </c:pt>
                <c:pt idx="11">
                  <c:v>33.1</c:v>
                </c:pt>
                <c:pt idx="12">
                  <c:v>32.1</c:v>
                </c:pt>
                <c:pt idx="13">
                  <c:v>35</c:v>
                </c:pt>
                <c:pt idx="14">
                  <c:v>35.5</c:v>
                </c:pt>
                <c:pt idx="15">
                  <c:v>40.2</c:v>
                </c:pt>
                <c:pt idx="16">
                  <c:v>35.3</c:v>
                </c:pt>
                <c:pt idx="17">
                  <c:v>36.9</c:v>
                </c:pt>
                <c:pt idx="18">
                  <c:v>40.9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6350" cap="flat">
              <a:solidFill>
                <a:srgbClr val="E1E0D9"/>
              </a:solidFill>
              <a:prstDash val="solid"/>
              <a:round/>
            </a:ln>
          </c:spPr>
        </c:majorGridlines>
        <c:numFmt formatCode="0&quot; %&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Bonjour. Je m'appelle Salma Bouhmid. Mon projet s'appelle « L'effet domino des retards ». J'ai analysé 54 000 vols au départ d'Atlanta pendant l'été 2022, pour comprendre quand et pourquoi les vols prennent du retard.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Plus d'un vol sur quatre part en retard à Atlanta en été. Mais un retard ne reste jamais isolé : l'avion doit repartir. C'est ce que j'ai vu pendant mon stage chez ALSA : un bus en retard sur son premier service décale tous les suivants. Ma question : quand et pourquoi les vols prennent-ils du retard, et est-ce qu'un retard se transmet d'un vol à l'autre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J'ai comparé sept datasets de transport ; trois avaient moins de 50 colonnes. J'ai choisi les vols américains du Bureau of Transportation Statistics : données officielles, 61 colonnes, et surtout l'immatriculation des avions, qui permet de suivre un même avion. Le fichier contient 4 millions de vols ; j'ai délimité mon sujet aux départs d'Atlanta en juin et juillet 2022, le pic des retards : 54 461 vols. Ce n'est pas un échantillonnage, c'est le choix du périmètre.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Ma méthode en six étapes. J'extrais le périmètre, je contrôle la qualité : aucun doublon, et les valeurs manquantes correspondent toutes aux vols annulés, donc je ne les remplis pas. Je supprime dix colonnes constantes et j'en crée huit, dont l'indicateur de l'effet domino. Les retards extrêmes sont de vrais vols, je les garde, et j'utilise le pourcentage de vols en retard plutôt que la moyenne, car la médiane est de 0 minute alors que la moyenne est de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J'ai besoin d'un échantillon pour les nuages de points : 54 000 points se superposent. J'ai comparé cinq méthodes. Avec un seul tirage, toutes semblaient bonnes. Mais en répétant cent fois, on voit que les grappes de jours varient de 18 à 36 % : les retards dépendent énormément du jour. J'ai retenu l'échantillon stratifié par jour : 26,5 % de retard contre 26,2 % dans la population, et tous les jours représentés. Les pourcentages, eux, sont toujours calculés sur tous les vols.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Premier résultat : le retard grandit au fil de la journée. 12 % le matin, 40 % le soir : trois fois plus. C'est vrai tous les jours de la semaine, et l'heure compte beaucoup plus que le jour. Hypothèse : les petits retards s'additionnent d'un vol à l'autre. Je l'ai vérifié directement.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 C'est le cœur du projet. Grâce à l'immatriculation, je regarde pour chaque départ si le départ précédent du même avion, le même jour, était en retard. Si oui : 50 % de retard. Sinon : 24 %. Le risque double. Et à droite, on voit que cet écart existe à chaque heure : ce n'est pas seulement parce que le soir est plus chargé. Attention, c'est une association, pas une preuve de causalité, mais cette cause est reconnue officiellement par le BTS.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 En croisant plusieurs variables : le soir est à risque tous les jours de la semaine. Les compagnies suivent la même tendance jusqu'à 16 heures, puis Southwest s'effondre, jusqu'à 80 % de retard à 21 heures. Et la distance ne joue aucun rôle : le retard se crée au sol, avant le décollage. Maintenant, je vous montre le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DÉMO (dashboard déjà ouvert dans le navigateur, tous les filtres par défaut). 1) Vue générale : je montre les 5 indicateurs, la courbe par heure, puis la carte jour × heure : plus c'est foncé, plus il y a de retard. 2) Dans les filtres, je règle l'heure de 18 h à 23 h : le pourcentage monte à environ 37 %, et l'indicateur affiche l'écart en rouge. Je remets 5 h – 23 h. 3) Onglet Effet domino : 24 % contre 50 %, et la courbe par heure. 4) Onglet Comparer : Delta contre Southwest, les courbes se séparent après 16 h. 5) Onglet Destinations : je survole Orlando pour montrer l'infobulle. Si la démo plante : les captures sont dans reports/captures.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 Pour résumer : un vol sur quatre est en retard ; le risque triple entre le matin et le soir ; le retard du vol précédent double le risque ; le retard se joue au départ ; les compagnies sont très différentes ; et certains jours font exploser les retards.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Ma conclusion : les vols prennent du retard en fin de journée, parce que les retards se transmettent d'un vol à l'autre du même avion. La piste d'action serait de protéger les premières rotations du matin. Mes limites : un seul aéroport et deux mois, pas de météo, et ce sont des associations, pas des preuves de causalité. Avec plus de données, j'ajouterais la météo et une année complète.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pour votre attention. Je suis prête pour vos questions. (Réponses préparées : docs/A_APPRENDRE.md,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731520"/>
            <a:ext cx="640080" cy="640080"/>
          </a:xfrm>
          <a:prstGeom prst="rect">
            <a:avLst/>
          </a:prstGeom>
        </p:spPr>
      </p:pic>
      <p:sp>
        <p:nvSpPr>
          <p:cNvPr id="3" name="Text 0"/>
          <p:cNvSpPr txBox="1"/>
          <p:nvPr/>
        </p:nvSpPr>
        <p:spPr>
          <a:xfrm>
            <a:off x="548640" y="1554480"/>
            <a:ext cx="8046720" cy="82296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L'effet domino des retards</a:t>
            </a:r>
            <a:endParaRPr lang="en-US" sz="4200" dirty="0"/>
          </a:p>
        </p:txBody>
      </p:sp>
      <p:sp>
        <p:nvSpPr>
          <p:cNvPr id="4" name="Text 1"/>
          <p:cNvSpPr txBox="1"/>
          <p:nvPr/>
        </p:nvSpPr>
        <p:spPr>
          <a:xfrm>
            <a:off x="548640" y="2377440"/>
            <a:ext cx="804672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Quand et pourquoi les vols au départ d'Atlanta prennent-ils du retard ? — Été 2022</a:t>
            </a:r>
            <a:endParaRPr lang="en-US" sz="1800" dirty="0"/>
          </a:p>
        </p:txBody>
      </p:sp>
      <p:sp>
        <p:nvSpPr>
          <p:cNvPr id="5" name="Text 2"/>
          <p:cNvSpPr txBox="1"/>
          <p:nvPr/>
        </p:nvSpPr>
        <p:spPr>
          <a:xfrm>
            <a:off x="548640" y="3749040"/>
            <a:ext cx="804672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Salma Bouhmid</a:t>
            </a: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Projet final — Module Visualisation des Données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Un retard ne reste jamais isolé</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La ponctualité est l'indicateur n°1 de tout transporteur</a:t>
            </a:r>
            <a:endParaRPr lang="en-US" sz="1400" dirty="0"/>
          </a:p>
        </p:txBody>
      </p:sp>
      <p:sp>
        <p:nvSpPr>
          <p:cNvPr id="4" name="Text 2"/>
          <p:cNvSpPr txBox="1"/>
          <p:nvPr/>
        </p:nvSpPr>
        <p:spPr>
          <a:xfrm>
            <a:off x="457200" y="1417320"/>
            <a:ext cx="3291840" cy="1188720"/>
          </a:xfrm>
          <a:prstGeom prst="rect">
            <a:avLst/>
          </a:prstGeom>
          <a:noFill/>
          <a:ln/>
        </p:spPr>
        <p:txBody>
          <a:bodyPr wrap="square" lIns="0" tIns="0" rIns="0" bIns="0" rtlCol="0" anchor="ctr"/>
          <a:lstStyle/>
          <a:p>
            <a:pPr indent="0" marL="0">
              <a:buNone/>
            </a:pPr>
            <a:r>
              <a:rPr lang="en-US" sz="7200" b="1" dirty="0">
                <a:solidFill>
                  <a:srgbClr val="EB6834"/>
                </a:solidFill>
                <a:latin typeface="Calibri" pitchFamily="34" charset="0"/>
                <a:ea typeface="Calibri" pitchFamily="34" charset="-122"/>
                <a:cs typeface="Calibri" pitchFamily="34" charset="-120"/>
              </a:rPr>
              <a:t>26 %</a:t>
            </a:r>
            <a:endParaRPr lang="en-US" sz="7200" dirty="0"/>
          </a:p>
        </p:txBody>
      </p:sp>
      <p:sp>
        <p:nvSpPr>
          <p:cNvPr id="5" name="Text 3"/>
          <p:cNvSpPr txBox="1"/>
          <p:nvPr/>
        </p:nvSpPr>
        <p:spPr>
          <a:xfrm>
            <a:off x="457200" y="2606040"/>
            <a:ext cx="3291840" cy="8229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des vols au départ d'Atlanta partent avec plus de 15 minutes de retard (juin–juillet 2022)</a:t>
            </a:r>
            <a:endParaRPr lang="en-US" sz="1400" dirty="0"/>
          </a:p>
        </p:txBody>
      </p:sp>
      <p:sp>
        <p:nvSpPr>
          <p:cNvPr id="6" name="Shape 4"/>
          <p:cNvSpPr/>
          <p:nvPr/>
        </p:nvSpPr>
        <p:spPr>
          <a:xfrm>
            <a:off x="4297680" y="1371600"/>
            <a:ext cx="457200" cy="457200"/>
          </a:xfrm>
          <a:prstGeom prst="ellipse">
            <a:avLst/>
          </a:prstGeom>
          <a:solidFill>
            <a:srgbClr val="2A78D6"/>
          </a:solidFill>
          <a:ln w="12700">
            <a:solidFill>
              <a:srgbClr val="2A78D6"/>
            </a:solidFill>
            <a:prstDash val="solid"/>
          </a:ln>
        </p:spPr>
      </p:sp>
      <p:pic>
        <p:nvPicPr>
          <p:cNvPr id="7" name="Image 0" descr="preencoded.png">    </p:cNvPr>
          <p:cNvPicPr>
            <a:picLocks noChangeAspect="1"/>
          </p:cNvPicPr>
          <p:nvPr/>
        </p:nvPicPr>
        <p:blipFill>
          <a:blip r:embed="rId1"/>
          <a:stretch>
            <a:fillRect/>
          </a:stretch>
        </p:blipFill>
        <p:spPr>
          <a:xfrm>
            <a:off x="4407408" y="1481328"/>
            <a:ext cx="237744" cy="237744"/>
          </a:xfrm>
          <a:prstGeom prst="rect">
            <a:avLst/>
          </a:prstGeom>
        </p:spPr>
      </p:pic>
      <p:sp>
        <p:nvSpPr>
          <p:cNvPr id="8" name="Text 5"/>
          <p:cNvSpPr txBox="1"/>
          <p:nvPr/>
        </p:nvSpPr>
        <p:spPr>
          <a:xfrm>
            <a:off x="4937760" y="1353312"/>
            <a:ext cx="374904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L'avion est attendu ailleurs</a:t>
            </a:r>
            <a:endParaRPr lang="en-US" sz="1600" dirty="0"/>
          </a:p>
        </p:txBody>
      </p:sp>
      <p:sp>
        <p:nvSpPr>
          <p:cNvPr id="9" name="Text 6"/>
          <p:cNvSpPr txBox="1"/>
          <p:nvPr/>
        </p:nvSpPr>
        <p:spPr>
          <a:xfrm>
            <a:off x="4937760" y="1673352"/>
            <a:ext cx="3749040"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Son retard peut se reporter sur ses vols suivants de la journée.</a:t>
            </a:r>
            <a:endParaRPr lang="en-US" sz="1200" dirty="0"/>
          </a:p>
        </p:txBody>
      </p:sp>
      <p:sp>
        <p:nvSpPr>
          <p:cNvPr id="10" name="Shape 7"/>
          <p:cNvSpPr/>
          <p:nvPr/>
        </p:nvSpPr>
        <p:spPr>
          <a:xfrm>
            <a:off x="4297680" y="2423160"/>
            <a:ext cx="457200" cy="457200"/>
          </a:xfrm>
          <a:prstGeom prst="ellipse">
            <a:avLst/>
          </a:prstGeom>
          <a:solidFill>
            <a:srgbClr val="2A78D6"/>
          </a:solidFill>
          <a:ln w="12700">
            <a:solidFill>
              <a:srgbClr val="2A78D6"/>
            </a:solidFill>
            <a:prstDash val="solid"/>
          </a:ln>
        </p:spPr>
      </p:sp>
      <p:pic>
        <p:nvPicPr>
          <p:cNvPr id="11" name="Image 1" descr="preencoded.png">    </p:cNvPr>
          <p:cNvPicPr>
            <a:picLocks noChangeAspect="1"/>
          </p:cNvPicPr>
          <p:nvPr/>
        </p:nvPicPr>
        <p:blipFill>
          <a:blip r:embed="rId2"/>
          <a:stretch>
            <a:fillRect/>
          </a:stretch>
        </p:blipFill>
        <p:spPr>
          <a:xfrm>
            <a:off x="4407408" y="2532888"/>
            <a:ext cx="237744" cy="237744"/>
          </a:xfrm>
          <a:prstGeom prst="rect">
            <a:avLst/>
          </a:prstGeom>
        </p:spPr>
      </p:pic>
      <p:sp>
        <p:nvSpPr>
          <p:cNvPr id="12" name="Text 8"/>
          <p:cNvSpPr txBox="1"/>
          <p:nvPr/>
        </p:nvSpPr>
        <p:spPr>
          <a:xfrm>
            <a:off x="4937760" y="2404872"/>
            <a:ext cx="374904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Atlanta, 1er aéroport du monde</a:t>
            </a:r>
            <a:endParaRPr lang="en-US" sz="1600" dirty="0"/>
          </a:p>
        </p:txBody>
      </p:sp>
      <p:sp>
        <p:nvSpPr>
          <p:cNvPr id="13" name="Text 9"/>
          <p:cNvSpPr txBox="1"/>
          <p:nvPr/>
        </p:nvSpPr>
        <p:spPr>
          <a:xfrm>
            <a:off x="4937760" y="2724912"/>
            <a:ext cx="3749040"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Hub de Delta : des milliers d'avions qui repartent plusieurs fois par jour.</a:t>
            </a:r>
            <a:endParaRPr lang="en-US" sz="1200" dirty="0"/>
          </a:p>
        </p:txBody>
      </p:sp>
      <p:sp>
        <p:nvSpPr>
          <p:cNvPr id="14" name="Shape 10"/>
          <p:cNvSpPr/>
          <p:nvPr/>
        </p:nvSpPr>
        <p:spPr>
          <a:xfrm>
            <a:off x="4297680" y="3474720"/>
            <a:ext cx="457200" cy="457200"/>
          </a:xfrm>
          <a:prstGeom prst="ellipse">
            <a:avLst/>
          </a:prstGeom>
          <a:solidFill>
            <a:srgbClr val="EB6834"/>
          </a:solidFill>
          <a:ln w="12700">
            <a:solidFill>
              <a:srgbClr val="EB6834"/>
            </a:solidFill>
            <a:prstDash val="solid"/>
          </a:ln>
        </p:spPr>
      </p:sp>
      <p:pic>
        <p:nvPicPr>
          <p:cNvPr id="15" name="Image 2" descr="preencoded.png">    </p:cNvPr>
          <p:cNvPicPr>
            <a:picLocks noChangeAspect="1"/>
          </p:cNvPicPr>
          <p:nvPr/>
        </p:nvPicPr>
        <p:blipFill>
          <a:blip r:embed="rId3"/>
          <a:stretch>
            <a:fillRect/>
          </a:stretch>
        </p:blipFill>
        <p:spPr>
          <a:xfrm>
            <a:off x="4407408" y="3584448"/>
            <a:ext cx="237744" cy="237744"/>
          </a:xfrm>
          <a:prstGeom prst="rect">
            <a:avLst/>
          </a:prstGeom>
        </p:spPr>
      </p:pic>
      <p:sp>
        <p:nvSpPr>
          <p:cNvPr id="16" name="Text 11"/>
          <p:cNvSpPr txBox="1"/>
          <p:nvPr/>
        </p:nvSpPr>
        <p:spPr>
          <a:xfrm>
            <a:off x="4937760" y="3456432"/>
            <a:ext cx="374904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Même logique qu'un réseau de bus</a:t>
            </a:r>
            <a:endParaRPr lang="en-US" sz="1600" dirty="0"/>
          </a:p>
        </p:txBody>
      </p:sp>
      <p:sp>
        <p:nvSpPr>
          <p:cNvPr id="17" name="Text 12"/>
          <p:cNvSpPr txBox="1"/>
          <p:nvPr/>
        </p:nvSpPr>
        <p:spPr>
          <a:xfrm>
            <a:off x="4937760" y="3776472"/>
            <a:ext cx="3749040"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Observée pendant mon stage chez ALSA Agadir City.</a:t>
            </a:r>
            <a:endParaRPr lang="en-US" sz="1200" dirty="0"/>
          </a:p>
        </p:txBody>
      </p:sp>
      <p:sp>
        <p:nvSpPr>
          <p:cNvPr id="18" name="Text 13"/>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0:00 – 1:00 · Introduction</a:t>
            </a:r>
            <a:endParaRPr lang="en-US" sz="900" dirty="0"/>
          </a:p>
        </p:txBody>
      </p:sp>
      <p:sp>
        <p:nvSpPr>
          <p:cNvPr id="19" name="Text 14"/>
          <p:cNvSpPr txBox="1"/>
          <p:nvPr/>
        </p:nvSpPr>
        <p:spPr>
          <a:xfrm>
            <a:off x="5029200" y="4800600"/>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2/12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Le dataset : des données officielles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Kaggle « Flight Status Prediction » — Bureau of Transportation Statistics (BTS, États-Unis)</a:t>
            </a:r>
            <a:endParaRPr lang="en-US" sz="1400" dirty="0"/>
          </a:p>
        </p:txBody>
      </p:sp>
      <p:sp>
        <p:nvSpPr>
          <p:cNvPr id="4" name="Shape 2"/>
          <p:cNvSpPr/>
          <p:nvPr/>
        </p:nvSpPr>
        <p:spPr>
          <a:xfrm>
            <a:off x="457200" y="1325880"/>
            <a:ext cx="2606040" cy="1325880"/>
          </a:xfrm>
          <a:prstGeom prst="rect">
            <a:avLst/>
          </a:prstGeom>
          <a:solidFill>
            <a:srgbClr val="EEF3FA"/>
          </a:solidFill>
          <a:ln w="12700">
            <a:solidFill>
              <a:srgbClr val="EEF3FA"/>
            </a:solidFill>
            <a:prstDash val="solid"/>
          </a:ln>
        </p:spPr>
      </p:sp>
      <p:sp>
        <p:nvSpPr>
          <p:cNvPr id="5" name="Text 3"/>
          <p:cNvSpPr txBox="1"/>
          <p:nvPr/>
        </p:nvSpPr>
        <p:spPr>
          <a:xfrm>
            <a:off x="640080" y="1389888"/>
            <a:ext cx="2286000" cy="594360"/>
          </a:xfrm>
          <a:prstGeom prst="rect">
            <a:avLst/>
          </a:prstGeom>
          <a:noFill/>
          <a:ln/>
        </p:spPr>
        <p:txBody>
          <a:bodyPr wrap="square" lIns="0" tIns="0" rIns="0" bIns="0" rtlCol="0" anchor="ctr"/>
          <a:lstStyle/>
          <a:p>
            <a:pPr indent="0" marL="0">
              <a:buNone/>
            </a:pPr>
            <a:r>
              <a:rPr lang="en-US" sz="3200" b="1" dirty="0">
                <a:solidFill>
                  <a:srgbClr val="2A78D6"/>
                </a:solidFill>
                <a:latin typeface="Calibri" pitchFamily="34" charset="0"/>
                <a:ea typeface="Calibri" pitchFamily="34" charset="-122"/>
                <a:cs typeface="Calibri" pitchFamily="34" charset="-120"/>
              </a:rPr>
              <a:t>7</a:t>
            </a:r>
            <a:endParaRPr lang="en-US" sz="3200" dirty="0"/>
          </a:p>
        </p:txBody>
      </p:sp>
      <p:sp>
        <p:nvSpPr>
          <p:cNvPr id="6" name="Text 4"/>
          <p:cNvSpPr txBox="1"/>
          <p:nvPr/>
        </p:nvSpPr>
        <p:spPr>
          <a:xfrm>
            <a:off x="640080" y="1965960"/>
            <a:ext cx="2286000" cy="64008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datasets de transport comparés (3 écartés : &lt; 50 colonnes)</a:t>
            </a:r>
            <a:endParaRPr lang="en-US" sz="1200" dirty="0"/>
          </a:p>
        </p:txBody>
      </p:sp>
      <p:sp>
        <p:nvSpPr>
          <p:cNvPr id="7" name="Shape 5"/>
          <p:cNvSpPr/>
          <p:nvPr/>
        </p:nvSpPr>
        <p:spPr>
          <a:xfrm>
            <a:off x="3246120" y="1325880"/>
            <a:ext cx="2606040" cy="1325880"/>
          </a:xfrm>
          <a:prstGeom prst="rect">
            <a:avLst/>
          </a:prstGeom>
          <a:solidFill>
            <a:srgbClr val="FDEEE7"/>
          </a:solidFill>
          <a:ln w="12700">
            <a:solidFill>
              <a:srgbClr val="FDEEE7"/>
            </a:solidFill>
            <a:prstDash val="solid"/>
          </a:ln>
        </p:spPr>
      </p:sp>
      <p:sp>
        <p:nvSpPr>
          <p:cNvPr id="8" name="Text 6"/>
          <p:cNvSpPr txBox="1"/>
          <p:nvPr/>
        </p:nvSpPr>
        <p:spPr>
          <a:xfrm>
            <a:off x="3429000" y="1389888"/>
            <a:ext cx="2286000" cy="594360"/>
          </a:xfrm>
          <a:prstGeom prst="rect">
            <a:avLst/>
          </a:prstGeom>
          <a:noFill/>
          <a:ln/>
        </p:spPr>
        <p:txBody>
          <a:bodyPr wrap="square" lIns="0" tIns="0" rIns="0" bIns="0" rtlCol="0" anchor="ctr"/>
          <a:lstStyle/>
          <a:p>
            <a:pPr indent="0" marL="0">
              <a:buNone/>
            </a:pPr>
            <a:r>
              <a:rPr lang="en-US" sz="3200" b="1" dirty="0">
                <a:solidFill>
                  <a:srgbClr val="EB6834"/>
                </a:solidFill>
                <a:latin typeface="Calibri" pitchFamily="34" charset="0"/>
                <a:ea typeface="Calibri" pitchFamily="34" charset="-122"/>
                <a:cs typeface="Calibri" pitchFamily="34" charset="-120"/>
              </a:rPr>
              <a:t>54 461</a:t>
            </a:r>
            <a:endParaRPr lang="en-US" sz="3200" dirty="0"/>
          </a:p>
        </p:txBody>
      </p:sp>
      <p:sp>
        <p:nvSpPr>
          <p:cNvPr id="9" name="Text 7"/>
          <p:cNvSpPr txBox="1"/>
          <p:nvPr/>
        </p:nvSpPr>
        <p:spPr>
          <a:xfrm>
            <a:off x="3429000" y="1965960"/>
            <a:ext cx="2286000" cy="64008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vols : tous les départs d'Atlanta, juin + juillet 2022</a:t>
            </a:r>
            <a:endParaRPr lang="en-US" sz="1200" dirty="0"/>
          </a:p>
        </p:txBody>
      </p:sp>
      <p:sp>
        <p:nvSpPr>
          <p:cNvPr id="10" name="Shape 8"/>
          <p:cNvSpPr/>
          <p:nvPr/>
        </p:nvSpPr>
        <p:spPr>
          <a:xfrm>
            <a:off x="6035040" y="1325880"/>
            <a:ext cx="2606040" cy="1325880"/>
          </a:xfrm>
          <a:prstGeom prst="rect">
            <a:avLst/>
          </a:prstGeom>
          <a:solidFill>
            <a:srgbClr val="FDEEE7"/>
          </a:solidFill>
          <a:ln w="12700">
            <a:solidFill>
              <a:srgbClr val="FDEEE7"/>
            </a:solidFill>
            <a:prstDash val="solid"/>
          </a:ln>
        </p:spPr>
      </p:sp>
      <p:sp>
        <p:nvSpPr>
          <p:cNvPr id="11" name="Text 9"/>
          <p:cNvSpPr txBox="1"/>
          <p:nvPr/>
        </p:nvSpPr>
        <p:spPr>
          <a:xfrm>
            <a:off x="6217920" y="1389888"/>
            <a:ext cx="2286000" cy="594360"/>
          </a:xfrm>
          <a:prstGeom prst="rect">
            <a:avLst/>
          </a:prstGeom>
          <a:noFill/>
          <a:ln/>
        </p:spPr>
        <p:txBody>
          <a:bodyPr wrap="square" lIns="0" tIns="0" rIns="0" bIns="0" rtlCol="0" anchor="ctr"/>
          <a:lstStyle/>
          <a:p>
            <a:pPr indent="0" marL="0">
              <a:buNone/>
            </a:pPr>
            <a:r>
              <a:rPr lang="en-US" sz="3200" b="1" dirty="0">
                <a:solidFill>
                  <a:srgbClr val="EB6834"/>
                </a:solidFill>
                <a:latin typeface="Calibri" pitchFamily="34" charset="0"/>
                <a:ea typeface="Calibri" pitchFamily="34" charset="-122"/>
                <a:cs typeface="Calibri" pitchFamily="34" charset="-120"/>
              </a:rPr>
              <a:t>61</a:t>
            </a:r>
            <a:endParaRPr lang="en-US" sz="3200" dirty="0"/>
          </a:p>
        </p:txBody>
      </p:sp>
      <p:sp>
        <p:nvSpPr>
          <p:cNvPr id="12" name="Text 10"/>
          <p:cNvSpPr txBox="1"/>
          <p:nvPr/>
        </p:nvSpPr>
        <p:spPr>
          <a:xfrm>
            <a:off x="6217920" y="1965960"/>
            <a:ext cx="2286000" cy="64008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colonnes : 41 numériques, 17 catégorielles, 2 vrai/faux, 1 date</a:t>
            </a:r>
            <a:endParaRPr lang="en-US" sz="1200" dirty="0"/>
          </a:p>
        </p:txBody>
      </p:sp>
      <p:sp>
        <p:nvSpPr>
          <p:cNvPr id="13" name="Text 11"/>
          <p:cNvSpPr txBox="1"/>
          <p:nvPr/>
        </p:nvSpPr>
        <p:spPr>
          <a:xfrm>
            <a:off x="457200" y="2880360"/>
            <a:ext cx="822960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Pourquoi ce dataset ?</a:t>
            </a:r>
            <a:endParaRPr lang="en-US" sz="1600" dirty="0"/>
          </a:p>
        </p:txBody>
      </p:sp>
      <p:sp>
        <p:nvSpPr>
          <p:cNvPr id="14" name="Text 12"/>
          <p:cNvSpPr txBox="1"/>
          <p:nvPr/>
        </p:nvSpPr>
        <p:spPr>
          <a:xfrm>
            <a:off x="457200" y="3200400"/>
            <a:ext cx="8229600" cy="1463040"/>
          </a:xfrm>
          <a:prstGeom prst="rect">
            <a:avLst/>
          </a:prstGeom>
          <a:noFill/>
          <a:ln/>
        </p:spPr>
        <p:txBody>
          <a:bodyPr wrap="square" lIns="0" tIns="0" rIns="0" bIns="0" rtlCol="0" anchor="ctr"/>
          <a:lstStyle/>
          <a:p>
            <a:pPr marL="342900" indent="-342900">
              <a:spcAft>
                <a:spcPts val="500"/>
              </a:spcAft>
              <a:buSzPct val="100000"/>
              <a:buChar char="•"/>
            </a:pPr>
            <a:r>
              <a:rPr lang="en-US" sz="1300" dirty="0">
                <a:solidFill>
                  <a:srgbClr val="1F2937"/>
                </a:solidFill>
                <a:latin typeface="Calibri" pitchFamily="34" charset="0"/>
                <a:ea typeface="Calibri" pitchFamily="34" charset="-122"/>
                <a:cs typeface="Calibri" pitchFamily="34" charset="-120"/>
              </a:rPr>
              <a:t>Données réelles et officielles, riches (61 colonnes)</a:t>
            </a:r>
            <a:endParaRPr lang="en-US" sz="1300" dirty="0"/>
          </a:p>
          <a:p>
            <a:pPr marL="342900" indent="-342900">
              <a:spcAft>
                <a:spcPts val="500"/>
              </a:spcAft>
              <a:buSzPct val="100000"/>
              <a:buChar char="•"/>
            </a:pPr>
            <a:r>
              <a:rPr lang="en-US" sz="1300" dirty="0">
                <a:solidFill>
                  <a:srgbClr val="1F2937"/>
                </a:solidFill>
                <a:latin typeface="Calibri" pitchFamily="34" charset="0"/>
                <a:ea typeface="Calibri" pitchFamily="34" charset="-122"/>
                <a:cs typeface="Calibri" pitchFamily="34" charset="-120"/>
              </a:rPr>
              <a:t>L'immatriculation de chaque avion permet de suivre le même appareil dans la journée → angle original : l'effet domino</a:t>
            </a:r>
            <a:endParaRPr lang="en-US" sz="1300" dirty="0"/>
          </a:p>
          <a:p>
            <a:pPr marL="342900" indent="-342900">
              <a:spcAft>
                <a:spcPts val="500"/>
              </a:spcAft>
              <a:buSzPct val="100000"/>
              <a:buChar char="•"/>
            </a:pPr>
            <a:r>
              <a:rPr lang="en-US" sz="1300" dirty="0">
                <a:solidFill>
                  <a:srgbClr val="1F2937"/>
                </a:solidFill>
                <a:latin typeface="Calibri" pitchFamily="34" charset="0"/>
                <a:ea typeface="Calibri" pitchFamily="34" charset="-122"/>
                <a:cs typeface="Calibri" pitchFamily="34" charset="-120"/>
              </a:rPr>
              <a:t>Juin–juillet = pic des retards de l'année ; 4 M de vols dans le fichier → périmètre de 54 461 vols (juillet seul &lt; 30 000)</a:t>
            </a:r>
            <a:endParaRPr lang="en-US" sz="1300" dirty="0"/>
          </a:p>
        </p:txBody>
      </p:sp>
      <p:sp>
        <p:nvSpPr>
          <p:cNvPr id="15" name="Text 13"/>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1:00 – 2:00 · Dataset</a:t>
            </a:r>
            <a:endParaRPr lang="en-US" sz="900" dirty="0"/>
          </a:p>
        </p:txBody>
      </p:sp>
      <p:sp>
        <p:nvSpPr>
          <p:cNvPr id="16" name="Text 14"/>
          <p:cNvSpPr txBox="1"/>
          <p:nvPr/>
        </p:nvSpPr>
        <p:spPr>
          <a:xfrm>
            <a:off x="5029200" y="4800600"/>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3/12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Méthodologie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Du fichier brut au dashboard, chaque étape documentée et reproductible</a:t>
            </a:r>
            <a:endParaRPr lang="en-US" sz="1400" dirty="0"/>
          </a:p>
        </p:txBody>
      </p:sp>
      <p:sp>
        <p:nvSpPr>
          <p:cNvPr id="4" name="Shape 2"/>
          <p:cNvSpPr/>
          <p:nvPr/>
        </p:nvSpPr>
        <p:spPr>
          <a:xfrm>
            <a:off x="841248" y="1463040"/>
            <a:ext cx="566928" cy="566928"/>
          </a:xfrm>
          <a:prstGeom prst="ellipse">
            <a:avLst/>
          </a:prstGeom>
          <a:solidFill>
            <a:srgbClr val="2A78D6"/>
          </a:solidFill>
          <a:ln w="12700">
            <a:solidFill>
              <a:srgbClr val="2A78D6"/>
            </a:solidFill>
            <a:prstDash val="solid"/>
          </a:ln>
        </p:spPr>
      </p:sp>
      <p:pic>
        <p:nvPicPr>
          <p:cNvPr id="5" name="Image 0" descr="preencoded.png">    </p:cNvPr>
          <p:cNvPicPr>
            <a:picLocks noChangeAspect="1"/>
          </p:cNvPicPr>
          <p:nvPr/>
        </p:nvPicPr>
        <p:blipFill>
          <a:blip r:embed="rId1"/>
          <a:stretch>
            <a:fillRect/>
          </a:stretch>
        </p:blipFill>
        <p:spPr>
          <a:xfrm>
            <a:off x="977311" y="1599103"/>
            <a:ext cx="294803" cy="294803"/>
          </a:xfrm>
          <a:prstGeom prst="rect">
            <a:avLst/>
          </a:prstGeom>
        </p:spPr>
      </p:pic>
      <p:sp>
        <p:nvSpPr>
          <p:cNvPr id="6" name="Shape 3"/>
          <p:cNvSpPr/>
          <p:nvPr/>
        </p:nvSpPr>
        <p:spPr>
          <a:xfrm>
            <a:off x="1481328" y="1746504"/>
            <a:ext cx="768096" cy="0"/>
          </a:xfrm>
          <a:prstGeom prst="line">
            <a:avLst/>
          </a:prstGeom>
          <a:noFill/>
          <a:ln w="25400">
            <a:solidFill>
              <a:srgbClr val="E1E0D9"/>
            </a:solidFill>
            <a:prstDash val="solid"/>
          </a:ln>
        </p:spPr>
      </p:sp>
      <p:sp>
        <p:nvSpPr>
          <p:cNvPr id="7" name="Text 4"/>
          <p:cNvSpPr txBox="1"/>
          <p:nvPr/>
        </p:nvSpPr>
        <p:spPr>
          <a:xfrm>
            <a:off x="457200" y="2194560"/>
            <a:ext cx="1335024" cy="32004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Extraction</a:t>
            </a:r>
            <a:endParaRPr lang="en-US" sz="1300" dirty="0"/>
          </a:p>
        </p:txBody>
      </p:sp>
      <p:sp>
        <p:nvSpPr>
          <p:cNvPr id="8" name="Text 5"/>
          <p:cNvSpPr txBox="1"/>
          <p:nvPr/>
        </p:nvSpPr>
        <p:spPr>
          <a:xfrm>
            <a:off x="457200" y="2514600"/>
            <a:ext cx="1335024" cy="64008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4 M → 54 461 vols</a:t>
            </a:r>
            <a:endParaRPr lang="en-US" sz="1100" dirty="0"/>
          </a:p>
        </p:txBody>
      </p:sp>
      <p:sp>
        <p:nvSpPr>
          <p:cNvPr id="9" name="Shape 6"/>
          <p:cNvSpPr/>
          <p:nvPr/>
        </p:nvSpPr>
        <p:spPr>
          <a:xfrm>
            <a:off x="2240280" y="1463040"/>
            <a:ext cx="566928" cy="566928"/>
          </a:xfrm>
          <a:prstGeom prst="ellipse">
            <a:avLst/>
          </a:prstGeom>
          <a:solidFill>
            <a:srgbClr val="2A78D6"/>
          </a:solidFill>
          <a:ln w="12700">
            <a:solidFill>
              <a:srgbClr val="2A78D6"/>
            </a:solidFill>
            <a:prstDash val="solid"/>
          </a:ln>
        </p:spPr>
      </p:sp>
      <p:pic>
        <p:nvPicPr>
          <p:cNvPr id="10" name="Image 1" descr="preencoded.png">    </p:cNvPr>
          <p:cNvPicPr>
            <a:picLocks noChangeAspect="1"/>
          </p:cNvPicPr>
          <p:nvPr/>
        </p:nvPicPr>
        <p:blipFill>
          <a:blip r:embed="rId2"/>
          <a:stretch>
            <a:fillRect/>
          </a:stretch>
        </p:blipFill>
        <p:spPr>
          <a:xfrm>
            <a:off x="2376343" y="1599103"/>
            <a:ext cx="294803" cy="294803"/>
          </a:xfrm>
          <a:prstGeom prst="rect">
            <a:avLst/>
          </a:prstGeom>
        </p:spPr>
      </p:pic>
      <p:sp>
        <p:nvSpPr>
          <p:cNvPr id="11" name="Shape 7"/>
          <p:cNvSpPr/>
          <p:nvPr/>
        </p:nvSpPr>
        <p:spPr>
          <a:xfrm>
            <a:off x="2880360" y="1746504"/>
            <a:ext cx="768096" cy="0"/>
          </a:xfrm>
          <a:prstGeom prst="line">
            <a:avLst/>
          </a:prstGeom>
          <a:noFill/>
          <a:ln w="25400">
            <a:solidFill>
              <a:srgbClr val="E1E0D9"/>
            </a:solidFill>
            <a:prstDash val="solid"/>
          </a:ln>
        </p:spPr>
      </p:sp>
      <p:sp>
        <p:nvSpPr>
          <p:cNvPr id="12" name="Text 8"/>
          <p:cNvSpPr txBox="1"/>
          <p:nvPr/>
        </p:nvSpPr>
        <p:spPr>
          <a:xfrm>
            <a:off x="1856232" y="2194560"/>
            <a:ext cx="1335024" cy="32004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Qualité</a:t>
            </a:r>
            <a:endParaRPr lang="en-US" sz="1300" dirty="0"/>
          </a:p>
        </p:txBody>
      </p:sp>
      <p:sp>
        <p:nvSpPr>
          <p:cNvPr id="13" name="Text 9"/>
          <p:cNvSpPr txBox="1"/>
          <p:nvPr/>
        </p:nvSpPr>
        <p:spPr>
          <a:xfrm>
            <a:off x="1856232" y="2514600"/>
            <a:ext cx="1335024" cy="64008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0 doublon · manquants = vols annulés</a:t>
            </a:r>
            <a:endParaRPr lang="en-US" sz="1100" dirty="0"/>
          </a:p>
        </p:txBody>
      </p:sp>
      <p:sp>
        <p:nvSpPr>
          <p:cNvPr id="14" name="Shape 10"/>
          <p:cNvSpPr/>
          <p:nvPr/>
        </p:nvSpPr>
        <p:spPr>
          <a:xfrm>
            <a:off x="3639312" y="1463040"/>
            <a:ext cx="566928" cy="566928"/>
          </a:xfrm>
          <a:prstGeom prst="ellipse">
            <a:avLst/>
          </a:prstGeom>
          <a:solidFill>
            <a:srgbClr val="2A78D6"/>
          </a:solidFill>
          <a:ln w="12700">
            <a:solidFill>
              <a:srgbClr val="2A78D6"/>
            </a:solidFill>
            <a:prstDash val="solid"/>
          </a:ln>
        </p:spPr>
      </p:sp>
      <p:pic>
        <p:nvPicPr>
          <p:cNvPr id="15" name="Image 2" descr="preencoded.png">    </p:cNvPr>
          <p:cNvPicPr>
            <a:picLocks noChangeAspect="1"/>
          </p:cNvPicPr>
          <p:nvPr/>
        </p:nvPicPr>
        <p:blipFill>
          <a:blip r:embed="rId3"/>
          <a:stretch>
            <a:fillRect/>
          </a:stretch>
        </p:blipFill>
        <p:spPr>
          <a:xfrm>
            <a:off x="3775375" y="1599103"/>
            <a:ext cx="294803" cy="294803"/>
          </a:xfrm>
          <a:prstGeom prst="rect">
            <a:avLst/>
          </a:prstGeom>
        </p:spPr>
      </p:pic>
      <p:sp>
        <p:nvSpPr>
          <p:cNvPr id="16" name="Shape 11"/>
          <p:cNvSpPr/>
          <p:nvPr/>
        </p:nvSpPr>
        <p:spPr>
          <a:xfrm>
            <a:off x="4279392" y="1746504"/>
            <a:ext cx="768096" cy="0"/>
          </a:xfrm>
          <a:prstGeom prst="line">
            <a:avLst/>
          </a:prstGeom>
          <a:noFill/>
          <a:ln w="25400">
            <a:solidFill>
              <a:srgbClr val="E1E0D9"/>
            </a:solidFill>
            <a:prstDash val="solid"/>
          </a:ln>
        </p:spPr>
      </p:sp>
      <p:sp>
        <p:nvSpPr>
          <p:cNvPr id="17" name="Text 12"/>
          <p:cNvSpPr txBox="1"/>
          <p:nvPr/>
        </p:nvSpPr>
        <p:spPr>
          <a:xfrm>
            <a:off x="3255264" y="2194560"/>
            <a:ext cx="1335024" cy="32004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Nettoyage</a:t>
            </a:r>
            <a:endParaRPr lang="en-US" sz="1300" dirty="0"/>
          </a:p>
        </p:txBody>
      </p:sp>
      <p:sp>
        <p:nvSpPr>
          <p:cNvPr id="18" name="Text 13"/>
          <p:cNvSpPr txBox="1"/>
          <p:nvPr/>
        </p:nvSpPr>
        <p:spPr>
          <a:xfrm>
            <a:off x="3255264" y="2514600"/>
            <a:ext cx="1335024" cy="64008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−10 colonnes constantes, +8 utiles</a:t>
            </a:r>
            <a:endParaRPr lang="en-US" sz="1100" dirty="0"/>
          </a:p>
        </p:txBody>
      </p:sp>
      <p:sp>
        <p:nvSpPr>
          <p:cNvPr id="19" name="Shape 14"/>
          <p:cNvSpPr/>
          <p:nvPr/>
        </p:nvSpPr>
        <p:spPr>
          <a:xfrm>
            <a:off x="5038344" y="1463040"/>
            <a:ext cx="566928" cy="566928"/>
          </a:xfrm>
          <a:prstGeom prst="ellipse">
            <a:avLst/>
          </a:prstGeom>
          <a:solidFill>
            <a:srgbClr val="EB6834"/>
          </a:solidFill>
          <a:ln w="12700">
            <a:solidFill>
              <a:srgbClr val="EB6834"/>
            </a:solidFill>
            <a:prstDash val="solid"/>
          </a:ln>
        </p:spPr>
      </p:sp>
      <p:pic>
        <p:nvPicPr>
          <p:cNvPr id="20" name="Image 3" descr="preencoded.png">    </p:cNvPr>
          <p:cNvPicPr>
            <a:picLocks noChangeAspect="1"/>
          </p:cNvPicPr>
          <p:nvPr/>
        </p:nvPicPr>
        <p:blipFill>
          <a:blip r:embed="rId4"/>
          <a:stretch>
            <a:fillRect/>
          </a:stretch>
        </p:blipFill>
        <p:spPr>
          <a:xfrm>
            <a:off x="5174407" y="1599103"/>
            <a:ext cx="294803" cy="294803"/>
          </a:xfrm>
          <a:prstGeom prst="rect">
            <a:avLst/>
          </a:prstGeom>
        </p:spPr>
      </p:pic>
      <p:sp>
        <p:nvSpPr>
          <p:cNvPr id="21" name="Shape 15"/>
          <p:cNvSpPr/>
          <p:nvPr/>
        </p:nvSpPr>
        <p:spPr>
          <a:xfrm>
            <a:off x="5678424" y="1746504"/>
            <a:ext cx="768096" cy="0"/>
          </a:xfrm>
          <a:prstGeom prst="line">
            <a:avLst/>
          </a:prstGeom>
          <a:noFill/>
          <a:ln w="25400">
            <a:solidFill>
              <a:srgbClr val="E1E0D9"/>
            </a:solidFill>
            <a:prstDash val="solid"/>
          </a:ln>
        </p:spPr>
      </p:sp>
      <p:sp>
        <p:nvSpPr>
          <p:cNvPr id="22" name="Text 16"/>
          <p:cNvSpPr txBox="1"/>
          <p:nvPr/>
        </p:nvSpPr>
        <p:spPr>
          <a:xfrm>
            <a:off x="4654296" y="2194560"/>
            <a:ext cx="1335024" cy="32004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Échantillonnage</a:t>
            </a:r>
            <a:endParaRPr lang="en-US" sz="1300" dirty="0"/>
          </a:p>
        </p:txBody>
      </p:sp>
      <p:sp>
        <p:nvSpPr>
          <p:cNvPr id="23" name="Text 17"/>
          <p:cNvSpPr txBox="1"/>
          <p:nvPr/>
        </p:nvSpPr>
        <p:spPr>
          <a:xfrm>
            <a:off x="4654296" y="2514600"/>
            <a:ext cx="1335024" cy="64008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5 méthodes comparées</a:t>
            </a:r>
            <a:endParaRPr lang="en-US" sz="1100" dirty="0"/>
          </a:p>
        </p:txBody>
      </p:sp>
      <p:sp>
        <p:nvSpPr>
          <p:cNvPr id="24" name="Shape 18"/>
          <p:cNvSpPr/>
          <p:nvPr/>
        </p:nvSpPr>
        <p:spPr>
          <a:xfrm>
            <a:off x="6437376" y="1463040"/>
            <a:ext cx="566928" cy="566928"/>
          </a:xfrm>
          <a:prstGeom prst="ellipse">
            <a:avLst/>
          </a:prstGeom>
          <a:solidFill>
            <a:srgbClr val="2A78D6"/>
          </a:solidFill>
          <a:ln w="12700">
            <a:solidFill>
              <a:srgbClr val="2A78D6"/>
            </a:solidFill>
            <a:prstDash val="solid"/>
          </a:ln>
        </p:spPr>
      </p:sp>
      <p:pic>
        <p:nvPicPr>
          <p:cNvPr id="25" name="Image 4" descr="preencoded.png">    </p:cNvPr>
          <p:cNvPicPr>
            <a:picLocks noChangeAspect="1"/>
          </p:cNvPicPr>
          <p:nvPr/>
        </p:nvPicPr>
        <p:blipFill>
          <a:blip r:embed="rId5"/>
          <a:stretch>
            <a:fillRect/>
          </a:stretch>
        </p:blipFill>
        <p:spPr>
          <a:xfrm>
            <a:off x="6573439" y="1599103"/>
            <a:ext cx="294803" cy="294803"/>
          </a:xfrm>
          <a:prstGeom prst="rect">
            <a:avLst/>
          </a:prstGeom>
        </p:spPr>
      </p:pic>
      <p:sp>
        <p:nvSpPr>
          <p:cNvPr id="26" name="Shape 19"/>
          <p:cNvSpPr/>
          <p:nvPr/>
        </p:nvSpPr>
        <p:spPr>
          <a:xfrm>
            <a:off x="7077456" y="1746504"/>
            <a:ext cx="768096" cy="0"/>
          </a:xfrm>
          <a:prstGeom prst="line">
            <a:avLst/>
          </a:prstGeom>
          <a:noFill/>
          <a:ln w="25400">
            <a:solidFill>
              <a:srgbClr val="E1E0D9"/>
            </a:solidFill>
            <a:prstDash val="solid"/>
          </a:ln>
        </p:spPr>
      </p:sp>
      <p:sp>
        <p:nvSpPr>
          <p:cNvPr id="27" name="Text 20"/>
          <p:cNvSpPr txBox="1"/>
          <p:nvPr/>
        </p:nvSpPr>
        <p:spPr>
          <a:xfrm>
            <a:off x="6053328" y="2194560"/>
            <a:ext cx="1335024" cy="32004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Analyses</a:t>
            </a:r>
            <a:endParaRPr lang="en-US" sz="1300" dirty="0"/>
          </a:p>
        </p:txBody>
      </p:sp>
      <p:sp>
        <p:nvSpPr>
          <p:cNvPr id="28" name="Text 21"/>
          <p:cNvSpPr txBox="1"/>
          <p:nvPr/>
        </p:nvSpPr>
        <p:spPr>
          <a:xfrm>
            <a:off x="6053328" y="2514600"/>
            <a:ext cx="1335024" cy="64008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uni-, bi-, multivariées</a:t>
            </a:r>
            <a:endParaRPr lang="en-US" sz="1100" dirty="0"/>
          </a:p>
        </p:txBody>
      </p:sp>
      <p:sp>
        <p:nvSpPr>
          <p:cNvPr id="29" name="Shape 22"/>
          <p:cNvSpPr/>
          <p:nvPr/>
        </p:nvSpPr>
        <p:spPr>
          <a:xfrm>
            <a:off x="7836408" y="1463040"/>
            <a:ext cx="566928" cy="566928"/>
          </a:xfrm>
          <a:prstGeom prst="ellipse">
            <a:avLst/>
          </a:prstGeom>
          <a:solidFill>
            <a:srgbClr val="EB6834"/>
          </a:solidFill>
          <a:ln w="12700">
            <a:solidFill>
              <a:srgbClr val="EB6834"/>
            </a:solidFill>
            <a:prstDash val="solid"/>
          </a:ln>
        </p:spPr>
      </p:sp>
      <p:pic>
        <p:nvPicPr>
          <p:cNvPr id="30" name="Image 5" descr="preencoded.png">    </p:cNvPr>
          <p:cNvPicPr>
            <a:picLocks noChangeAspect="1"/>
          </p:cNvPicPr>
          <p:nvPr/>
        </p:nvPicPr>
        <p:blipFill>
          <a:blip r:embed="rId6"/>
          <a:stretch>
            <a:fillRect/>
          </a:stretch>
        </p:blipFill>
        <p:spPr>
          <a:xfrm>
            <a:off x="7972471" y="1599103"/>
            <a:ext cx="294803" cy="294803"/>
          </a:xfrm>
          <a:prstGeom prst="rect">
            <a:avLst/>
          </a:prstGeom>
        </p:spPr>
      </p:pic>
      <p:sp>
        <p:nvSpPr>
          <p:cNvPr id="31" name="Text 23"/>
          <p:cNvSpPr txBox="1"/>
          <p:nvPr/>
        </p:nvSpPr>
        <p:spPr>
          <a:xfrm>
            <a:off x="7452360" y="2194560"/>
            <a:ext cx="1335024" cy="32004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Dashboard</a:t>
            </a:r>
            <a:endParaRPr lang="en-US" sz="1300" dirty="0"/>
          </a:p>
        </p:txBody>
      </p:sp>
      <p:sp>
        <p:nvSpPr>
          <p:cNvPr id="32" name="Text 24"/>
          <p:cNvSpPr txBox="1"/>
          <p:nvPr/>
        </p:nvSpPr>
        <p:spPr>
          <a:xfrm>
            <a:off x="7452360" y="2514600"/>
            <a:ext cx="1335024" cy="64008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Streamlit + Plotly</a:t>
            </a:r>
            <a:endParaRPr lang="en-US" sz="1100" dirty="0"/>
          </a:p>
        </p:txBody>
      </p:sp>
      <p:sp>
        <p:nvSpPr>
          <p:cNvPr id="33" name="Shape 25"/>
          <p:cNvSpPr/>
          <p:nvPr/>
        </p:nvSpPr>
        <p:spPr>
          <a:xfrm>
            <a:off x="457200" y="3429000"/>
            <a:ext cx="8229600" cy="1097280"/>
          </a:xfrm>
          <a:prstGeom prst="rect">
            <a:avLst/>
          </a:prstGeom>
          <a:solidFill>
            <a:srgbClr val="EEF3FA"/>
          </a:solidFill>
          <a:ln w="12700">
            <a:solidFill>
              <a:srgbClr val="EEF3FA"/>
            </a:solidFill>
            <a:prstDash val="solid"/>
          </a:ln>
        </p:spPr>
      </p:sp>
      <p:sp>
        <p:nvSpPr>
          <p:cNvPr id="34" name="Text 26"/>
          <p:cNvSpPr txBox="1"/>
          <p:nvPr/>
        </p:nvSpPr>
        <p:spPr>
          <a:xfrm>
            <a:off x="640080" y="3520440"/>
            <a:ext cx="7863840" cy="91440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Décisions clés : </a:t>
            </a:r>
            <a:pPr indent="0" marL="0">
              <a:buNone/>
            </a:pPr>
            <a:r>
              <a:rPr lang="en-US" sz="1300" dirty="0">
                <a:solidFill>
                  <a:srgbClr val="1F2937"/>
                </a:solidFill>
                <a:latin typeface="Calibri" pitchFamily="34" charset="0"/>
                <a:ea typeface="Calibri" pitchFamily="34" charset="-122"/>
                <a:cs typeface="Calibri" pitchFamily="34" charset="-120"/>
              </a:rPr>
              <a:t>les valeurs manquantes (vols annulés) ne sont pas remplies ; les retards extrêmes (jusqu'à 41 h) sont gardés car ce sont de vrais vols ; l'indicateur principal est le % de vols en retard, plus robuste que la moyenne (médiane 0 min, moyenne 16 min).</a:t>
            </a:r>
            <a:endParaRPr lang="en-US" sz="1300" dirty="0"/>
          </a:p>
        </p:txBody>
      </p:sp>
      <p:sp>
        <p:nvSpPr>
          <p:cNvPr id="35" name="Text 27"/>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2:00 – 3:00 · Méthodologie</a:t>
            </a:r>
            <a:endParaRPr lang="en-US" sz="900" dirty="0"/>
          </a:p>
        </p:txBody>
      </p:sp>
      <p:sp>
        <p:nvSpPr>
          <p:cNvPr id="36" name="Text 28"/>
          <p:cNvSpPr txBox="1"/>
          <p:nvPr/>
        </p:nvSpPr>
        <p:spPr>
          <a:xfrm>
            <a:off x="5029200" y="4800600"/>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4/12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Échantillonnage : un seul tirage peut tromper</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5 méthodes, 5 000 vols (10 %), chacune répétée 100 fois — pour des nuages de points lisibles</a:t>
            </a:r>
            <a:endParaRPr lang="en-US" sz="1400" dirty="0"/>
          </a:p>
        </p:txBody>
      </p:sp>
      <p:pic>
        <p:nvPicPr>
          <p:cNvPr id="4" name="Image 0" descr="C:/Users/123/Documents/dataviz-retards-vols/reports/figures/09_stabilite_echantillonnage.png">    </p:cNvPr>
          <p:cNvPicPr>
            <a:picLocks noChangeAspect="1"/>
          </p:cNvPicPr>
          <p:nvPr/>
        </p:nvPicPr>
        <p:blipFill>
          <a:blip r:embed="rId1"/>
          <a:srcRect l="0" r="0" t="0" b="0"/>
          <a:stretch/>
        </p:blipFill>
        <p:spPr>
          <a:xfrm>
            <a:off x="365760" y="1280160"/>
            <a:ext cx="5212080" cy="233172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806440" y="1325880"/>
          <a:ext cx="2880360" cy="914400"/>
        </p:xfrm>
        <a:graphic>
          <a:graphicData uri="http://schemas.openxmlformats.org/drawingml/2006/table">
            <a:tbl>
              <a:tblPr/>
              <a:tblGrid>
                <a:gridCol w="1920240"/>
                <a:gridCol w="96012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Méthode</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Écart-type</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4213D"/>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Aléatoire simple</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0,55 pt</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Systématique</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0,53 pt</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Stratifié (compagnie)</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0,60 pt</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329184">
                <a:tc>
                  <a:txBody>
                    <a:bodyPr/>
                    <a:lstStyle/>
                    <a:p>
                      <a:pPr indent="0" marL="0">
                        <a:buNone/>
                      </a:pPr>
                      <a:r>
                        <a:rPr lang="en-US" sz="1100" b="1" dirty="0">
                          <a:solidFill>
                            <a:srgbClr val="EB6834"/>
                          </a:solidFill>
                          <a:latin typeface="Calibri" pitchFamily="34" charset="0"/>
                          <a:ea typeface="Calibri" pitchFamily="34" charset="-122"/>
                          <a:cs typeface="Calibri" pitchFamily="34" charset="-120"/>
                        </a:rPr>
                        <a:t>Par grappes (jours)</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b="1" dirty="0">
                          <a:solidFill>
                            <a:srgbClr val="EB6834"/>
                          </a:solidFill>
                          <a:latin typeface="Calibri" pitchFamily="34" charset="0"/>
                          <a:ea typeface="Calibri" pitchFamily="34" charset="-122"/>
                          <a:cs typeface="Calibri" pitchFamily="34" charset="-120"/>
                        </a:rPr>
                        <a:t>3,92 pts</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Stratifié par jour ✔</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EEE7"/>
                    </a:solidFill>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0,52 pt</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EEE7"/>
                    </a:solidFill>
                  </a:tcPr>
                </a:tc>
              </a:tr>
            </a:tbl>
          </a:graphicData>
        </a:graphic>
      </p:graphicFrame>
      <p:sp>
        <p:nvSpPr>
          <p:cNvPr id="6" name="Text 2"/>
          <p:cNvSpPr txBox="1"/>
          <p:nvPr/>
        </p:nvSpPr>
        <p:spPr>
          <a:xfrm>
            <a:off x="457200" y="3840480"/>
            <a:ext cx="8229600" cy="777240"/>
          </a:xfrm>
          <a:prstGeom prst="rect">
            <a:avLst/>
          </a:prstGeom>
          <a:noFill/>
          <a:ln/>
        </p:spPr>
        <p:txBody>
          <a:bodyPr wrap="square" lIns="0" tIns="0" rIns="0" bIns="0" rtlCol="0" anchor="ctr"/>
          <a:lstStyle/>
          <a:p>
            <a:pPr indent="0" marL="0">
              <a:buNone/>
            </a:pPr>
            <a:r>
              <a:rPr lang="en-US" sz="1300" dirty="0">
                <a:solidFill>
                  <a:srgbClr val="14213D"/>
                </a:solidFill>
                <a:latin typeface="Calibri" pitchFamily="34" charset="0"/>
                <a:ea typeface="Calibri" pitchFamily="34" charset="-122"/>
                <a:cs typeface="Calibri" pitchFamily="34" charset="-120"/>
              </a:rPr>
              <a:t>Les grappes varient de 18 % à 36 % : les retards dépendent énormément du jour (de 10 % à 63 %). Retenu : stratifié par jour — les 61 jours sont représentés, 26,5 % contre 26,2 % dans la population.</a:t>
            </a:r>
            <a:endParaRPr lang="en-US" sz="1300" dirty="0"/>
          </a:p>
        </p:txBody>
      </p:sp>
      <p:sp>
        <p:nvSpPr>
          <p:cNvPr id="7" name="Text 3"/>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3:00 – 4:00 · Échantillonnage</a:t>
            </a:r>
            <a:endParaRPr lang="en-US" sz="900" dirty="0"/>
          </a:p>
        </p:txBody>
      </p:sp>
      <p:sp>
        <p:nvSpPr>
          <p:cNvPr id="8" name="Text 4"/>
          <p:cNvSpPr txBox="1"/>
          <p:nvPr/>
        </p:nvSpPr>
        <p:spPr>
          <a:xfrm>
            <a:off x="5029200" y="4800600"/>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5/12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Le retard s'accumule au fil de la journée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 de vols partis avec plus de 15 min de retard, selon l'heure de départ prévue</a:t>
            </a:r>
            <a:endParaRPr lang="en-US" sz="1400" dirty="0"/>
          </a:p>
        </p:txBody>
      </p:sp>
      <p:graphicFrame>
        <p:nvGraphicFramePr>
          <p:cNvPr id="4" name="Chart 0" descr=""/>
          <p:cNvGraphicFramePr/>
          <p:nvPr/>
        </p:nvGraphicFramePr>
        <p:xfrm>
          <a:off x="365760" y="1234440"/>
          <a:ext cx="5760720" cy="3474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400800" y="1371600"/>
            <a:ext cx="2286000" cy="822960"/>
          </a:xfrm>
          <a:prstGeom prst="rect">
            <a:avLst/>
          </a:prstGeom>
          <a:noFill/>
          <a:ln/>
        </p:spPr>
        <p:txBody>
          <a:bodyPr wrap="square" lIns="0" tIns="0" rIns="0" bIns="0" rtlCol="0" anchor="ctr"/>
          <a:lstStyle/>
          <a:p>
            <a:pPr indent="0" marL="0">
              <a:buNone/>
            </a:pPr>
            <a:r>
              <a:rPr lang="en-US" sz="6000" b="1" dirty="0">
                <a:solidFill>
                  <a:srgbClr val="EB6834"/>
                </a:solidFill>
                <a:latin typeface="Calibri" pitchFamily="34" charset="0"/>
                <a:ea typeface="Calibri" pitchFamily="34" charset="-122"/>
                <a:cs typeface="Calibri" pitchFamily="34" charset="-120"/>
              </a:rPr>
              <a:t>×3</a:t>
            </a:r>
            <a:endParaRPr lang="en-US" sz="6000" dirty="0"/>
          </a:p>
        </p:txBody>
      </p:sp>
      <p:sp>
        <p:nvSpPr>
          <p:cNvPr id="6" name="Text 3"/>
          <p:cNvSpPr txBox="1"/>
          <p:nvPr/>
        </p:nvSpPr>
        <p:spPr>
          <a:xfrm>
            <a:off x="6400800" y="2240280"/>
            <a:ext cx="2286000" cy="10972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Un vol du soir a environ 3 fois plus de risque d'être en retard qu'un vol du matin : ≈ 12 % à 6 h contre ≈ 40 % à 20 h.</a:t>
            </a:r>
            <a:endParaRPr lang="en-US" sz="1300" dirty="0"/>
          </a:p>
        </p:txBody>
      </p:sp>
      <p:sp>
        <p:nvSpPr>
          <p:cNvPr id="7" name="Text 4"/>
          <p:cNvSpPr txBox="1"/>
          <p:nvPr/>
        </p:nvSpPr>
        <p:spPr>
          <a:xfrm>
            <a:off x="6400800" y="3474720"/>
            <a:ext cx="2286000" cy="82296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Vrai tous les jours de la semaine. Le jour compte moins que l'heure (23 % mardi → 29 % jeudi).</a:t>
            </a:r>
            <a:endParaRPr lang="en-US" sz="1200" dirty="0"/>
          </a:p>
        </p:txBody>
      </p:sp>
      <p:sp>
        <p:nvSpPr>
          <p:cNvPr id="8" name="Text 5"/>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4:00 – 6:00 · Analyses</a:t>
            </a:r>
            <a:endParaRPr lang="en-US" sz="900" dirty="0"/>
          </a:p>
        </p:txBody>
      </p:sp>
      <p:sp>
        <p:nvSpPr>
          <p:cNvPr id="9" name="Text 6"/>
          <p:cNvSpPr txBox="1"/>
          <p:nvPr/>
        </p:nvSpPr>
        <p:spPr>
          <a:xfrm>
            <a:off x="5029200" y="4800600"/>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6/12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L'effet domino est mesurable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Retard d'un vol selon le départ précédent du même avion, le même jour</a:t>
            </a:r>
            <a:endParaRPr lang="en-US" sz="1400" dirty="0"/>
          </a:p>
        </p:txBody>
      </p:sp>
      <p:sp>
        <p:nvSpPr>
          <p:cNvPr id="4" name="Shape 2"/>
          <p:cNvSpPr/>
          <p:nvPr/>
        </p:nvSpPr>
        <p:spPr>
          <a:xfrm>
            <a:off x="457200" y="1325880"/>
            <a:ext cx="1920240" cy="1463040"/>
          </a:xfrm>
          <a:prstGeom prst="rect">
            <a:avLst/>
          </a:prstGeom>
          <a:solidFill>
            <a:srgbClr val="EEF3FA"/>
          </a:solidFill>
          <a:ln w="12700">
            <a:solidFill>
              <a:srgbClr val="EEF3FA"/>
            </a:solidFill>
            <a:prstDash val="solid"/>
          </a:ln>
        </p:spPr>
      </p:sp>
      <p:sp>
        <p:nvSpPr>
          <p:cNvPr id="5" name="Text 3"/>
          <p:cNvSpPr txBox="1"/>
          <p:nvPr/>
        </p:nvSpPr>
        <p:spPr>
          <a:xfrm>
            <a:off x="594360" y="1417320"/>
            <a:ext cx="1737360" cy="685800"/>
          </a:xfrm>
          <a:prstGeom prst="rect">
            <a:avLst/>
          </a:prstGeom>
          <a:noFill/>
          <a:ln/>
        </p:spPr>
        <p:txBody>
          <a:bodyPr wrap="square" lIns="0" tIns="0" rIns="0" bIns="0" rtlCol="0" anchor="ctr"/>
          <a:lstStyle/>
          <a:p>
            <a:pPr indent="0" marL="0">
              <a:buNone/>
            </a:pPr>
            <a:r>
              <a:rPr lang="en-US" sz="4000" b="1" dirty="0">
                <a:solidFill>
                  <a:srgbClr val="2A78D6"/>
                </a:solidFill>
                <a:latin typeface="Calibri" pitchFamily="34" charset="0"/>
                <a:ea typeface="Calibri" pitchFamily="34" charset="-122"/>
                <a:cs typeface="Calibri" pitchFamily="34" charset="-120"/>
              </a:rPr>
              <a:t>24 %</a:t>
            </a:r>
            <a:endParaRPr lang="en-US" sz="4000" dirty="0"/>
          </a:p>
        </p:txBody>
      </p:sp>
      <p:sp>
        <p:nvSpPr>
          <p:cNvPr id="6" name="Text 4"/>
          <p:cNvSpPr txBox="1"/>
          <p:nvPr/>
        </p:nvSpPr>
        <p:spPr>
          <a:xfrm>
            <a:off x="594360" y="2103120"/>
            <a:ext cx="1691640" cy="64008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en retard si le vol précédent était à l'heure</a:t>
            </a:r>
            <a:endParaRPr lang="en-US" sz="1100" dirty="0"/>
          </a:p>
        </p:txBody>
      </p:sp>
      <p:sp>
        <p:nvSpPr>
          <p:cNvPr id="7" name="Shape 5"/>
          <p:cNvSpPr/>
          <p:nvPr/>
        </p:nvSpPr>
        <p:spPr>
          <a:xfrm>
            <a:off x="2560320" y="1325880"/>
            <a:ext cx="1920240" cy="1463040"/>
          </a:xfrm>
          <a:prstGeom prst="rect">
            <a:avLst/>
          </a:prstGeom>
          <a:solidFill>
            <a:srgbClr val="FDEEE7"/>
          </a:solidFill>
          <a:ln w="12700">
            <a:solidFill>
              <a:srgbClr val="FDEEE7"/>
            </a:solidFill>
            <a:prstDash val="solid"/>
          </a:ln>
        </p:spPr>
      </p:sp>
      <p:sp>
        <p:nvSpPr>
          <p:cNvPr id="8" name="Text 6"/>
          <p:cNvSpPr txBox="1"/>
          <p:nvPr/>
        </p:nvSpPr>
        <p:spPr>
          <a:xfrm>
            <a:off x="2697480" y="1417320"/>
            <a:ext cx="1737360" cy="685800"/>
          </a:xfrm>
          <a:prstGeom prst="rect">
            <a:avLst/>
          </a:prstGeom>
          <a:noFill/>
          <a:ln/>
        </p:spPr>
        <p:txBody>
          <a:bodyPr wrap="square" lIns="0" tIns="0" rIns="0" bIns="0" rtlCol="0" anchor="ctr"/>
          <a:lstStyle/>
          <a:p>
            <a:pPr indent="0" marL="0">
              <a:buNone/>
            </a:pPr>
            <a:r>
              <a:rPr lang="en-US" sz="4000" b="1" dirty="0">
                <a:solidFill>
                  <a:srgbClr val="EB6834"/>
                </a:solidFill>
                <a:latin typeface="Calibri" pitchFamily="34" charset="0"/>
                <a:ea typeface="Calibri" pitchFamily="34" charset="-122"/>
                <a:cs typeface="Calibri" pitchFamily="34" charset="-120"/>
              </a:rPr>
              <a:t>50 %</a:t>
            </a:r>
            <a:endParaRPr lang="en-US" sz="4000" dirty="0"/>
          </a:p>
        </p:txBody>
      </p:sp>
      <p:sp>
        <p:nvSpPr>
          <p:cNvPr id="9" name="Text 7"/>
          <p:cNvSpPr txBox="1"/>
          <p:nvPr/>
        </p:nvSpPr>
        <p:spPr>
          <a:xfrm>
            <a:off x="2697480" y="2103120"/>
            <a:ext cx="1691640" cy="64008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en retard si le vol précédent était en retard</a:t>
            </a:r>
            <a:endParaRPr lang="en-US" sz="1100" dirty="0"/>
          </a:p>
        </p:txBody>
      </p:sp>
      <p:sp>
        <p:nvSpPr>
          <p:cNvPr id="10" name="Text 8"/>
          <p:cNvSpPr txBox="1"/>
          <p:nvPr/>
        </p:nvSpPr>
        <p:spPr>
          <a:xfrm>
            <a:off x="457200" y="2971800"/>
            <a:ext cx="4023360" cy="73152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Le risque double — et l'écart existe à chaque heure : ce n'est pas qu'un effet « fin de journée ».</a:t>
            </a:r>
            <a:endParaRPr lang="en-US" sz="1400" dirty="0"/>
          </a:p>
        </p:txBody>
      </p:sp>
      <p:sp>
        <p:nvSpPr>
          <p:cNvPr id="11" name="Text 9"/>
          <p:cNvSpPr txBox="1"/>
          <p:nvPr/>
        </p:nvSpPr>
        <p:spPr>
          <a:xfrm>
            <a:off x="457200" y="3794760"/>
            <a:ext cx="4023360" cy="82296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Association, pas preuve de causalité : les deux vols partagent la même journée (météo, affluence). Cause reconnue par le BTS : « Aircraft Arriving Late ».</a:t>
            </a:r>
            <a:endParaRPr lang="en-US" sz="1100" dirty="0"/>
          </a:p>
        </p:txBody>
      </p:sp>
      <p:pic>
        <p:nvPicPr>
          <p:cNvPr id="12" name="Image 0" descr="C:/Users/123/Documents/dataviz-retards-vols/reports/figures/12_domino_par_heure.png">    </p:cNvPr>
          <p:cNvPicPr>
            <a:picLocks noChangeAspect="1"/>
          </p:cNvPicPr>
          <p:nvPr/>
        </p:nvPicPr>
        <p:blipFill>
          <a:blip r:embed="rId1"/>
          <a:srcRect l="0" r="0" t="0" b="0"/>
          <a:stretch/>
        </p:blipFill>
        <p:spPr>
          <a:xfrm>
            <a:off x="4663440" y="1234440"/>
            <a:ext cx="4114800" cy="3474720"/>
          </a:xfrm>
          <a:prstGeom prst="rect">
            <a:avLst/>
          </a:prstGeom>
        </p:spPr>
      </p:pic>
      <p:sp>
        <p:nvSpPr>
          <p:cNvPr id="13" name="Text 10"/>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4:00 – 6:00 · Analyses</a:t>
            </a:r>
            <a:endParaRPr lang="en-US" sz="900" dirty="0"/>
          </a:p>
        </p:txBody>
      </p:sp>
      <p:sp>
        <p:nvSpPr>
          <p:cNvPr id="14" name="Text 11"/>
          <p:cNvSpPr txBox="1"/>
          <p:nvPr/>
        </p:nvSpPr>
        <p:spPr>
          <a:xfrm>
            <a:off x="5029200" y="4800600"/>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7/12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Quels profils sont les plus à risque ?</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Analyse multivariée : jour × heure, compagnie × heure</a:t>
            </a:r>
            <a:endParaRPr lang="en-US" sz="1400" dirty="0"/>
          </a:p>
        </p:txBody>
      </p:sp>
      <p:pic>
        <p:nvPicPr>
          <p:cNvPr id="4" name="Image 0" descr="C:/Users/123/Documents/dataviz-retards-vols/reports/figures/12_heatmap_jour_heure.png">    </p:cNvPr>
          <p:cNvPicPr>
            <a:picLocks noChangeAspect="1"/>
          </p:cNvPicPr>
          <p:nvPr/>
        </p:nvPicPr>
        <p:blipFill>
          <a:blip r:embed="rId1"/>
          <a:srcRect l="0" r="0" t="0" b="0"/>
          <a:stretch/>
        </p:blipFill>
        <p:spPr>
          <a:xfrm>
            <a:off x="365760" y="1234440"/>
            <a:ext cx="4846320" cy="2240280"/>
          </a:xfrm>
          <a:prstGeom prst="rect">
            <a:avLst/>
          </a:prstGeom>
        </p:spPr>
      </p:pic>
      <p:pic>
        <p:nvPicPr>
          <p:cNvPr id="5" name="Image 1" descr="C:/Users/123/Documents/dataviz-retards-vols/reports/figures/12_compagnie_heure.png">    </p:cNvPr>
          <p:cNvPicPr>
            <a:picLocks noChangeAspect="1"/>
          </p:cNvPicPr>
          <p:nvPr/>
        </p:nvPicPr>
        <p:blipFill>
          <a:blip r:embed="rId2"/>
          <a:srcRect l="0" r="0" t="0" b="0"/>
          <a:stretch/>
        </p:blipFill>
        <p:spPr>
          <a:xfrm>
            <a:off x="5349240" y="1234440"/>
            <a:ext cx="3429000" cy="2240280"/>
          </a:xfrm>
          <a:prstGeom prst="rect">
            <a:avLst/>
          </a:prstGeom>
        </p:spPr>
      </p:pic>
      <p:sp>
        <p:nvSpPr>
          <p:cNvPr id="6" name="Text 2"/>
          <p:cNvSpPr txBox="1"/>
          <p:nvPr/>
        </p:nvSpPr>
        <p:spPr>
          <a:xfrm>
            <a:off x="457200" y="3611880"/>
            <a:ext cx="8229600" cy="1097280"/>
          </a:xfrm>
          <a:prstGeom prst="rect">
            <a:avLst/>
          </a:prstGeom>
          <a:noFill/>
          <a:ln/>
        </p:spPr>
        <p:txBody>
          <a:bodyPr wrap="square" lIns="0" tIns="0" rIns="0" bIns="0" rtlCol="0" anchor="ctr"/>
          <a:lstStyle/>
          <a:p>
            <a:pPr indent="0" marL="0">
              <a:spcAft>
                <a:spcPts val="400"/>
              </a:spcAft>
              <a:buNone/>
            </a:pPr>
            <a:r>
              <a:rPr lang="en-US" sz="1200" b="1" dirty="0">
                <a:solidFill>
                  <a:srgbClr val="14213D"/>
                </a:solidFill>
                <a:latin typeface="Calibri" pitchFamily="34" charset="0"/>
                <a:ea typeface="Calibri" pitchFamily="34" charset="-122"/>
                <a:cs typeface="Calibri" pitchFamily="34" charset="-120"/>
              </a:rPr>
              <a:t>Le soir est à risque tous les jours </a:t>
            </a:r>
            <a:pPr indent="0" marL="0">
              <a:spcAft>
                <a:spcPts val="400"/>
              </a:spcAft>
              <a:buNone/>
            </a:pPr>
            <a:r>
              <a:rPr lang="en-US" sz="1200" dirty="0">
                <a:solidFill>
                  <a:srgbClr val="1F2937"/>
                </a:solidFill>
                <a:latin typeface="Calibri" pitchFamily="34" charset="0"/>
                <a:ea typeface="Calibri" pitchFamily="34" charset="-122"/>
                <a:cs typeface="Calibri" pitchFamily="34" charset="-120"/>
              </a:rPr>
              <a:t>(jusqu'à 47 % le vendredi à 20 h) ; le matin est calme tous les jours.</a:t>
            </a:r>
            <a:endParaRPr lang="en-US" sz="1200" dirty="0"/>
          </a:p>
          <a:p>
            <a:pPr indent="0" marL="0">
              <a:spcAft>
                <a:spcPts val="400"/>
              </a:spcAft>
              <a:buNone/>
            </a:pPr>
            <a:r>
              <a:rPr lang="en-US" sz="1200" b="1" dirty="0">
                <a:solidFill>
                  <a:srgbClr val="14213D"/>
                </a:solidFill>
                <a:latin typeface="Calibri" pitchFamily="34" charset="0"/>
                <a:ea typeface="Calibri" pitchFamily="34" charset="-122"/>
                <a:cs typeface="Calibri" pitchFamily="34" charset="-120"/>
              </a:rPr>
              <a:t>Southwest (37 %) et Frontier (35 %) </a:t>
            </a:r>
            <a:pPr indent="0" marL="0">
              <a:spcAft>
                <a:spcPts val="400"/>
              </a:spcAft>
              <a:buNone/>
            </a:pPr>
            <a:r>
              <a:rPr lang="en-US" sz="1200" dirty="0">
                <a:solidFill>
                  <a:srgbClr val="1F2937"/>
                </a:solidFill>
                <a:latin typeface="Calibri" pitchFamily="34" charset="0"/>
                <a:ea typeface="Calibri" pitchFamily="34" charset="-122"/>
                <a:cs typeface="Calibri" pitchFamily="34" charset="-120"/>
              </a:rPr>
              <a:t>sont 2 fois plus en retard qu'Endeavor (18 %) ; Southwest s'effondre le soir (≈ 80 % à 21 h).</a:t>
            </a:r>
            <a:endParaRPr lang="en-US" sz="1200" dirty="0"/>
          </a:p>
          <a:p>
            <a:pPr indent="0" marL="0">
              <a:spcAft>
                <a:spcPts val="400"/>
              </a:spcAft>
              <a:buNone/>
            </a:pPr>
            <a:r>
              <a:rPr lang="en-US" sz="1200" b="1" dirty="0">
                <a:solidFill>
                  <a:srgbClr val="14213D"/>
                </a:solidFill>
                <a:latin typeface="Calibri" pitchFamily="34" charset="0"/>
                <a:ea typeface="Calibri" pitchFamily="34" charset="-122"/>
                <a:cs typeface="Calibri" pitchFamily="34" charset="-120"/>
              </a:rPr>
              <a:t>Destinations : </a:t>
            </a:r>
            <a:pPr indent="0" marL="0">
              <a:spcAft>
                <a:spcPts val="400"/>
              </a:spcAft>
              <a:buNone/>
            </a:pPr>
            <a:r>
              <a:rPr lang="en-US" sz="1200" dirty="0">
                <a:solidFill>
                  <a:srgbClr val="1F2937"/>
                </a:solidFill>
                <a:latin typeface="Calibri" pitchFamily="34" charset="0"/>
                <a:ea typeface="Calibri" pitchFamily="34" charset="-122"/>
                <a:cs typeface="Calibri" pitchFamily="34" charset="-120"/>
              </a:rPr>
              <a:t>Orlando, New York JFK, Tampa en tête ; la distance n'a aucun lien avec le retard (corrélation 0,01).</a:t>
            </a:r>
            <a:endParaRPr lang="en-US" sz="1200" dirty="0"/>
          </a:p>
        </p:txBody>
      </p:sp>
      <p:sp>
        <p:nvSpPr>
          <p:cNvPr id="7" name="Text 3"/>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4:00 – 6:00 · Analyses</a:t>
            </a:r>
            <a:endParaRPr lang="en-US" sz="900" dirty="0"/>
          </a:p>
        </p:txBody>
      </p:sp>
      <p:sp>
        <p:nvSpPr>
          <p:cNvPr id="8" name="Text 4"/>
          <p:cNvSpPr txBox="1"/>
          <p:nvPr/>
        </p:nvSpPr>
        <p:spPr>
          <a:xfrm>
            <a:off x="5029200" y="4800600"/>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8/12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Démonstration du dashboard</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Streamlit + Plotly · filtres liés · 5 indicateurs · 5 onglets</a:t>
            </a:r>
            <a:endParaRPr lang="en-US" sz="1400" dirty="0"/>
          </a:p>
        </p:txBody>
      </p:sp>
      <p:pic>
        <p:nvPicPr>
          <p:cNvPr id="4" name="Image 0" descr="dash_domino.png">    </p:cNvPr>
          <p:cNvPicPr>
            <a:picLocks noChangeAspect="1"/>
          </p:cNvPicPr>
          <p:nvPr/>
        </p:nvPicPr>
        <p:blipFill>
          <a:blip r:embed="rId1"/>
          <a:srcRect l="0" r="0" t="0" b="0"/>
          <a:stretch/>
        </p:blipFill>
        <p:spPr>
          <a:xfrm>
            <a:off x="365760" y="1234440"/>
            <a:ext cx="5394960" cy="3474720"/>
          </a:xfrm>
          <a:prstGeom prst="rect">
            <a:avLst/>
          </a:prstGeom>
        </p:spPr>
      </p:pic>
      <p:sp>
        <p:nvSpPr>
          <p:cNvPr id="5" name="Text 2"/>
          <p:cNvSpPr txBox="1"/>
          <p:nvPr/>
        </p:nvSpPr>
        <p:spPr>
          <a:xfrm>
            <a:off x="5989320" y="1234440"/>
            <a:ext cx="2743200" cy="32004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Scénario de démo</a:t>
            </a:r>
            <a:endParaRPr lang="en-US" sz="1500" dirty="0"/>
          </a:p>
        </p:txBody>
      </p:sp>
      <p:sp>
        <p:nvSpPr>
          <p:cNvPr id="6" name="Text 3"/>
          <p:cNvSpPr txBox="1"/>
          <p:nvPr/>
        </p:nvSpPr>
        <p:spPr>
          <a:xfrm>
            <a:off x="5989320" y="1600200"/>
            <a:ext cx="2743200" cy="30175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Vue générale : la courbe par heure et la carte jour × heure</a:t>
            </a:r>
            <a:endParaRPr lang="en-US" sz="1200" dirty="0"/>
          </a:p>
          <a:p>
            <a:pPr marL="342900" indent="-342900">
              <a:spcAft>
                <a:spcPts val="6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Filtre heures 18 h – 23 h : le % de retard passe à ≈ 37 %</a:t>
            </a:r>
            <a:endParaRPr lang="en-US" sz="1200" dirty="0"/>
          </a:p>
          <a:p>
            <a:pPr marL="342900" indent="-342900">
              <a:spcAft>
                <a:spcPts val="6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Onglet Effet domino : 24 % → 50 %</a:t>
            </a:r>
            <a:endParaRPr lang="en-US" sz="1200" dirty="0"/>
          </a:p>
          <a:p>
            <a:pPr marL="342900" indent="-342900">
              <a:spcAft>
                <a:spcPts val="6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Comparer Delta et Southwest heure par heure</a:t>
            </a:r>
            <a:endParaRPr lang="en-US" sz="1200" dirty="0"/>
          </a:p>
          <a:p>
            <a:pPr marL="342900" indent="-342900">
              <a:spcAft>
                <a:spcPts val="600"/>
              </a:spcAft>
              <a:buSzPct val="100000"/>
              <a:buFont typeface="+mj-lt"/>
              <a:buAutoNum type="arabicPeriod" startAt="1"/>
            </a:pPr>
            <a:r>
              <a:rPr lang="en-US" sz="1200" dirty="0">
                <a:solidFill>
                  <a:srgbClr val="1F2937"/>
                </a:solidFill>
                <a:latin typeface="Calibri" pitchFamily="34" charset="0"/>
                <a:ea typeface="Calibri" pitchFamily="34" charset="-122"/>
                <a:cs typeface="Calibri" pitchFamily="34" charset="-120"/>
              </a:rPr>
              <a:t>Destinations : survoler Orlando (MCO)</a:t>
            </a:r>
            <a:endParaRPr lang="en-US" sz="1200" dirty="0"/>
          </a:p>
        </p:txBody>
      </p:sp>
      <p:sp>
        <p:nvSpPr>
          <p:cNvPr id="7" name="Text 4"/>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6:00 – 8:30 · Démonstration</a:t>
            </a:r>
            <a:endParaRPr lang="en-US" sz="900" dirty="0"/>
          </a:p>
        </p:txBody>
      </p:sp>
      <p:sp>
        <p:nvSpPr>
          <p:cNvPr id="8" name="Text 5"/>
          <p:cNvSpPr txBox="1"/>
          <p:nvPr/>
        </p:nvSpPr>
        <p:spPr>
          <a:xfrm>
            <a:off x="5029200" y="4800600"/>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9/12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Ce que disent les données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Six insights, tous calculés sur les 54 461 vols</a:t>
            </a:r>
            <a:endParaRPr lang="en-US" sz="1400" dirty="0"/>
          </a:p>
        </p:txBody>
      </p:sp>
      <p:sp>
        <p:nvSpPr>
          <p:cNvPr id="4" name="Shape 2"/>
          <p:cNvSpPr/>
          <p:nvPr/>
        </p:nvSpPr>
        <p:spPr>
          <a:xfrm>
            <a:off x="457200" y="1325880"/>
            <a:ext cx="2606040" cy="1508760"/>
          </a:xfrm>
          <a:prstGeom prst="rect">
            <a:avLst/>
          </a:prstGeom>
          <a:solidFill>
            <a:srgbClr val="EEF3FA"/>
          </a:solidFill>
          <a:ln w="12700">
            <a:solidFill>
              <a:srgbClr val="EEF3FA"/>
            </a:solidFill>
            <a:prstDash val="solid"/>
          </a:ln>
        </p:spPr>
      </p:sp>
      <p:sp>
        <p:nvSpPr>
          <p:cNvPr id="5" name="Text 3"/>
          <p:cNvSpPr txBox="1"/>
          <p:nvPr/>
        </p:nvSpPr>
        <p:spPr>
          <a:xfrm>
            <a:off x="640080" y="1435608"/>
            <a:ext cx="2286000" cy="548640"/>
          </a:xfrm>
          <a:prstGeom prst="rect">
            <a:avLst/>
          </a:prstGeom>
          <a:noFill/>
          <a:ln/>
        </p:spPr>
        <p:txBody>
          <a:bodyPr wrap="square" lIns="0" tIns="0" rIns="0" bIns="0" rtlCol="0" anchor="ctr"/>
          <a:lstStyle/>
          <a:p>
            <a:pPr indent="0" marL="0">
              <a:buNone/>
            </a:pPr>
            <a:r>
              <a:rPr lang="en-US" sz="2600" b="1" dirty="0">
                <a:solidFill>
                  <a:srgbClr val="2A78D6"/>
                </a:solidFill>
                <a:latin typeface="Calibri" pitchFamily="34" charset="0"/>
                <a:ea typeface="Calibri" pitchFamily="34" charset="-122"/>
                <a:cs typeface="Calibri" pitchFamily="34" charset="-120"/>
              </a:rPr>
              <a:t>26 %</a:t>
            </a:r>
            <a:endParaRPr lang="en-US" sz="2600" dirty="0"/>
          </a:p>
        </p:txBody>
      </p:sp>
      <p:sp>
        <p:nvSpPr>
          <p:cNvPr id="6" name="Text 4"/>
          <p:cNvSpPr txBox="1"/>
          <p:nvPr/>
        </p:nvSpPr>
        <p:spPr>
          <a:xfrm>
            <a:off x="640080" y="2011680"/>
            <a:ext cx="228600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des vols partent avec plus de 15 min de retard ; 8 % avec plus d'1 h</a:t>
            </a:r>
            <a:endParaRPr lang="en-US" sz="1200" dirty="0"/>
          </a:p>
        </p:txBody>
      </p:sp>
      <p:sp>
        <p:nvSpPr>
          <p:cNvPr id="7" name="Shape 5"/>
          <p:cNvSpPr/>
          <p:nvPr/>
        </p:nvSpPr>
        <p:spPr>
          <a:xfrm>
            <a:off x="3246120" y="1325880"/>
            <a:ext cx="2606040" cy="1508760"/>
          </a:xfrm>
          <a:prstGeom prst="rect">
            <a:avLst/>
          </a:prstGeom>
          <a:solidFill>
            <a:srgbClr val="FDEEE7"/>
          </a:solidFill>
          <a:ln w="12700">
            <a:solidFill>
              <a:srgbClr val="FDEEE7"/>
            </a:solidFill>
            <a:prstDash val="solid"/>
          </a:ln>
        </p:spPr>
      </p:sp>
      <p:sp>
        <p:nvSpPr>
          <p:cNvPr id="8" name="Text 6"/>
          <p:cNvSpPr txBox="1"/>
          <p:nvPr/>
        </p:nvSpPr>
        <p:spPr>
          <a:xfrm>
            <a:off x="3429000" y="1435608"/>
            <a:ext cx="2286000" cy="548640"/>
          </a:xfrm>
          <a:prstGeom prst="rect">
            <a:avLst/>
          </a:prstGeom>
          <a:noFill/>
          <a:ln/>
        </p:spPr>
        <p:txBody>
          <a:bodyPr wrap="square" lIns="0" tIns="0" rIns="0" bIns="0" rtlCol="0" anchor="ctr"/>
          <a:lstStyle/>
          <a:p>
            <a:pPr indent="0" marL="0">
              <a:buNone/>
            </a:pPr>
            <a:r>
              <a:rPr lang="en-US" sz="2600" b="1" dirty="0">
                <a:solidFill>
                  <a:srgbClr val="EB6834"/>
                </a:solidFill>
                <a:latin typeface="Calibri" pitchFamily="34" charset="0"/>
                <a:ea typeface="Calibri" pitchFamily="34" charset="-122"/>
                <a:cs typeface="Calibri" pitchFamily="34" charset="-120"/>
              </a:rPr>
              <a:t>×3</a:t>
            </a:r>
            <a:endParaRPr lang="en-US" sz="2600" dirty="0"/>
          </a:p>
        </p:txBody>
      </p:sp>
      <p:sp>
        <p:nvSpPr>
          <p:cNvPr id="9" name="Text 7"/>
          <p:cNvSpPr txBox="1"/>
          <p:nvPr/>
        </p:nvSpPr>
        <p:spPr>
          <a:xfrm>
            <a:off x="3429000" y="2011680"/>
            <a:ext cx="228600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le risque de retard entre le matin (≈ 12 %) et le soir (≈ 40 %)</a:t>
            </a:r>
            <a:endParaRPr lang="en-US" sz="1200" dirty="0"/>
          </a:p>
        </p:txBody>
      </p:sp>
      <p:sp>
        <p:nvSpPr>
          <p:cNvPr id="10" name="Shape 8"/>
          <p:cNvSpPr/>
          <p:nvPr/>
        </p:nvSpPr>
        <p:spPr>
          <a:xfrm>
            <a:off x="6035040" y="1325880"/>
            <a:ext cx="2606040" cy="1508760"/>
          </a:xfrm>
          <a:prstGeom prst="rect">
            <a:avLst/>
          </a:prstGeom>
          <a:solidFill>
            <a:srgbClr val="FDEEE7"/>
          </a:solidFill>
          <a:ln w="12700">
            <a:solidFill>
              <a:srgbClr val="FDEEE7"/>
            </a:solidFill>
            <a:prstDash val="solid"/>
          </a:ln>
        </p:spPr>
      </p:sp>
      <p:sp>
        <p:nvSpPr>
          <p:cNvPr id="11" name="Text 9"/>
          <p:cNvSpPr txBox="1"/>
          <p:nvPr/>
        </p:nvSpPr>
        <p:spPr>
          <a:xfrm>
            <a:off x="6217920" y="1435608"/>
            <a:ext cx="2286000" cy="548640"/>
          </a:xfrm>
          <a:prstGeom prst="rect">
            <a:avLst/>
          </a:prstGeom>
          <a:noFill/>
          <a:ln/>
        </p:spPr>
        <p:txBody>
          <a:bodyPr wrap="square" lIns="0" tIns="0" rIns="0" bIns="0" rtlCol="0" anchor="ctr"/>
          <a:lstStyle/>
          <a:p>
            <a:pPr indent="0" marL="0">
              <a:buNone/>
            </a:pPr>
            <a:r>
              <a:rPr lang="en-US" sz="2600" b="1" dirty="0">
                <a:solidFill>
                  <a:srgbClr val="EB6834"/>
                </a:solidFill>
                <a:latin typeface="Calibri" pitchFamily="34" charset="0"/>
                <a:ea typeface="Calibri" pitchFamily="34" charset="-122"/>
                <a:cs typeface="Calibri" pitchFamily="34" charset="-120"/>
              </a:rPr>
              <a:t>×2</a:t>
            </a:r>
            <a:endParaRPr lang="en-US" sz="2600" dirty="0"/>
          </a:p>
        </p:txBody>
      </p:sp>
      <p:sp>
        <p:nvSpPr>
          <p:cNvPr id="12" name="Text 10"/>
          <p:cNvSpPr txBox="1"/>
          <p:nvPr/>
        </p:nvSpPr>
        <p:spPr>
          <a:xfrm>
            <a:off x="6217920" y="2011680"/>
            <a:ext cx="228600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effet domino : 50 % de retard si le vol précédent était en retard, contre 24 %</a:t>
            </a:r>
            <a:endParaRPr lang="en-US" sz="1200" dirty="0"/>
          </a:p>
        </p:txBody>
      </p:sp>
      <p:sp>
        <p:nvSpPr>
          <p:cNvPr id="13" name="Shape 11"/>
          <p:cNvSpPr/>
          <p:nvPr/>
        </p:nvSpPr>
        <p:spPr>
          <a:xfrm>
            <a:off x="457200" y="3017520"/>
            <a:ext cx="2606040" cy="1508760"/>
          </a:xfrm>
          <a:prstGeom prst="rect">
            <a:avLst/>
          </a:prstGeom>
          <a:solidFill>
            <a:srgbClr val="EEF3FA"/>
          </a:solidFill>
          <a:ln w="12700">
            <a:solidFill>
              <a:srgbClr val="EEF3FA"/>
            </a:solidFill>
            <a:prstDash val="solid"/>
          </a:ln>
        </p:spPr>
      </p:sp>
      <p:sp>
        <p:nvSpPr>
          <p:cNvPr id="14" name="Text 12"/>
          <p:cNvSpPr txBox="1"/>
          <p:nvPr/>
        </p:nvSpPr>
        <p:spPr>
          <a:xfrm>
            <a:off x="640080" y="3127248"/>
            <a:ext cx="2286000" cy="548640"/>
          </a:xfrm>
          <a:prstGeom prst="rect">
            <a:avLst/>
          </a:prstGeom>
          <a:noFill/>
          <a:ln/>
        </p:spPr>
        <p:txBody>
          <a:bodyPr wrap="square" lIns="0" tIns="0" rIns="0" bIns="0" rtlCol="0" anchor="ctr"/>
          <a:lstStyle/>
          <a:p>
            <a:pPr indent="0" marL="0">
              <a:buNone/>
            </a:pPr>
            <a:r>
              <a:rPr lang="en-US" sz="2600" b="1" dirty="0">
                <a:solidFill>
                  <a:srgbClr val="2A78D6"/>
                </a:solidFill>
                <a:latin typeface="Calibri" pitchFamily="34" charset="0"/>
                <a:ea typeface="Calibri" pitchFamily="34" charset="-122"/>
                <a:cs typeface="Calibri" pitchFamily="34" charset="-120"/>
              </a:rPr>
              <a:t>0,98</a:t>
            </a:r>
            <a:endParaRPr lang="en-US" sz="2600" dirty="0"/>
          </a:p>
        </p:txBody>
      </p:sp>
      <p:sp>
        <p:nvSpPr>
          <p:cNvPr id="15" name="Text 13"/>
          <p:cNvSpPr txBox="1"/>
          <p:nvPr/>
        </p:nvSpPr>
        <p:spPr>
          <a:xfrm>
            <a:off x="640080" y="3703320"/>
            <a:ext cx="228600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corrélation retard départ / arrivée : le retard se joue au départ</a:t>
            </a:r>
            <a:endParaRPr lang="en-US" sz="1200" dirty="0"/>
          </a:p>
        </p:txBody>
      </p:sp>
      <p:sp>
        <p:nvSpPr>
          <p:cNvPr id="16" name="Shape 14"/>
          <p:cNvSpPr/>
          <p:nvPr/>
        </p:nvSpPr>
        <p:spPr>
          <a:xfrm>
            <a:off x="3246120" y="3017520"/>
            <a:ext cx="2606040" cy="1508760"/>
          </a:xfrm>
          <a:prstGeom prst="rect">
            <a:avLst/>
          </a:prstGeom>
          <a:solidFill>
            <a:srgbClr val="EEF3FA"/>
          </a:solidFill>
          <a:ln w="12700">
            <a:solidFill>
              <a:srgbClr val="EEF3FA"/>
            </a:solidFill>
            <a:prstDash val="solid"/>
          </a:ln>
        </p:spPr>
      </p:sp>
      <p:sp>
        <p:nvSpPr>
          <p:cNvPr id="17" name="Text 15"/>
          <p:cNvSpPr txBox="1"/>
          <p:nvPr/>
        </p:nvSpPr>
        <p:spPr>
          <a:xfrm>
            <a:off x="3429000" y="3127248"/>
            <a:ext cx="2286000" cy="548640"/>
          </a:xfrm>
          <a:prstGeom prst="rect">
            <a:avLst/>
          </a:prstGeom>
          <a:noFill/>
          <a:ln/>
        </p:spPr>
        <p:txBody>
          <a:bodyPr wrap="square" lIns="0" tIns="0" rIns="0" bIns="0" rtlCol="0" anchor="ctr"/>
          <a:lstStyle/>
          <a:p>
            <a:pPr indent="0" marL="0">
              <a:buNone/>
            </a:pPr>
            <a:r>
              <a:rPr lang="en-US" sz="2600" b="1" dirty="0">
                <a:solidFill>
                  <a:srgbClr val="2A78D6"/>
                </a:solidFill>
                <a:latin typeface="Calibri" pitchFamily="34" charset="0"/>
                <a:ea typeface="Calibri" pitchFamily="34" charset="-122"/>
                <a:cs typeface="Calibri" pitchFamily="34" charset="-120"/>
              </a:rPr>
              <a:t>37 % / 18 %</a:t>
            </a:r>
            <a:endParaRPr lang="en-US" sz="2600" dirty="0"/>
          </a:p>
        </p:txBody>
      </p:sp>
      <p:sp>
        <p:nvSpPr>
          <p:cNvPr id="18" name="Text 16"/>
          <p:cNvSpPr txBox="1"/>
          <p:nvPr/>
        </p:nvSpPr>
        <p:spPr>
          <a:xfrm>
            <a:off x="3429000" y="3703320"/>
            <a:ext cx="228600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Southwest contre Endeavor : les compagnies ne se valent pas</a:t>
            </a:r>
            <a:endParaRPr lang="en-US" sz="1200" dirty="0"/>
          </a:p>
        </p:txBody>
      </p:sp>
      <p:sp>
        <p:nvSpPr>
          <p:cNvPr id="19" name="Shape 17"/>
          <p:cNvSpPr/>
          <p:nvPr/>
        </p:nvSpPr>
        <p:spPr>
          <a:xfrm>
            <a:off x="6035040" y="3017520"/>
            <a:ext cx="2606040" cy="1508760"/>
          </a:xfrm>
          <a:prstGeom prst="rect">
            <a:avLst/>
          </a:prstGeom>
          <a:solidFill>
            <a:srgbClr val="EEF3FA"/>
          </a:solidFill>
          <a:ln w="12700">
            <a:solidFill>
              <a:srgbClr val="EEF3FA"/>
            </a:solidFill>
            <a:prstDash val="solid"/>
          </a:ln>
        </p:spPr>
      </p:sp>
      <p:sp>
        <p:nvSpPr>
          <p:cNvPr id="20" name="Text 18"/>
          <p:cNvSpPr txBox="1"/>
          <p:nvPr/>
        </p:nvSpPr>
        <p:spPr>
          <a:xfrm>
            <a:off x="6217920" y="3127248"/>
            <a:ext cx="2286000" cy="548640"/>
          </a:xfrm>
          <a:prstGeom prst="rect">
            <a:avLst/>
          </a:prstGeom>
          <a:noFill/>
          <a:ln/>
        </p:spPr>
        <p:txBody>
          <a:bodyPr wrap="square" lIns="0" tIns="0" rIns="0" bIns="0" rtlCol="0" anchor="ctr"/>
          <a:lstStyle/>
          <a:p>
            <a:pPr indent="0" marL="0">
              <a:buNone/>
            </a:pPr>
            <a:r>
              <a:rPr lang="en-US" sz="2600" b="1" dirty="0">
                <a:solidFill>
                  <a:srgbClr val="2A78D6"/>
                </a:solidFill>
                <a:latin typeface="Calibri" pitchFamily="34" charset="0"/>
                <a:ea typeface="Calibri" pitchFamily="34" charset="-122"/>
                <a:cs typeface="Calibri" pitchFamily="34" charset="-120"/>
              </a:rPr>
              <a:t>10 → 63 %</a:t>
            </a:r>
            <a:endParaRPr lang="en-US" sz="2600" dirty="0"/>
          </a:p>
        </p:txBody>
      </p:sp>
      <p:sp>
        <p:nvSpPr>
          <p:cNvPr id="21" name="Text 19"/>
          <p:cNvSpPr txBox="1"/>
          <p:nvPr/>
        </p:nvSpPr>
        <p:spPr>
          <a:xfrm>
            <a:off x="6217920" y="3703320"/>
            <a:ext cx="228600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de vols en retard selon le jour : certains jours font exploser les retards</a:t>
            </a:r>
            <a:endParaRPr lang="en-US" sz="1200" dirty="0"/>
          </a:p>
        </p:txBody>
      </p:sp>
      <p:sp>
        <p:nvSpPr>
          <p:cNvPr id="22" name="Text 20"/>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8:30 – 9:30 · Insights</a:t>
            </a:r>
            <a:endParaRPr lang="en-US" sz="900" dirty="0"/>
          </a:p>
        </p:txBody>
      </p:sp>
      <p:sp>
        <p:nvSpPr>
          <p:cNvPr id="23" name="Text 21"/>
          <p:cNvSpPr txBox="1"/>
          <p:nvPr/>
        </p:nvSpPr>
        <p:spPr>
          <a:xfrm>
            <a:off x="5029200" y="4800600"/>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10/12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Conclusion et limites</a:t>
            </a:r>
            <a:endParaRPr lang="en-US" sz="2800" dirty="0"/>
          </a:p>
        </p:txBody>
      </p:sp>
      <p:sp>
        <p:nvSpPr>
          <p:cNvPr id="3" name="Shape 1"/>
          <p:cNvSpPr/>
          <p:nvPr/>
        </p:nvSpPr>
        <p:spPr>
          <a:xfrm>
            <a:off x="457200" y="1097280"/>
            <a:ext cx="8229600" cy="1325880"/>
          </a:xfrm>
          <a:prstGeom prst="rect">
            <a:avLst/>
          </a:prstGeom>
          <a:solidFill>
            <a:srgbClr val="14213D"/>
          </a:solidFill>
          <a:ln w="12700">
            <a:solidFill>
              <a:srgbClr val="14213D"/>
            </a:solidFill>
            <a:prstDash val="solid"/>
          </a:ln>
        </p:spPr>
      </p:sp>
      <p:sp>
        <p:nvSpPr>
          <p:cNvPr id="4" name="Shape 2"/>
          <p:cNvSpPr/>
          <p:nvPr/>
        </p:nvSpPr>
        <p:spPr>
          <a:xfrm>
            <a:off x="685800" y="1417320"/>
            <a:ext cx="548640" cy="548640"/>
          </a:xfrm>
          <a:prstGeom prst="ellipse">
            <a:avLst/>
          </a:prstGeom>
          <a:solidFill>
            <a:srgbClr val="EB6834"/>
          </a:solidFill>
          <a:ln w="12700">
            <a:solidFill>
              <a:srgbClr val="EB6834"/>
            </a:solidFill>
            <a:prstDash val="solid"/>
          </a:ln>
        </p:spPr>
      </p:sp>
      <p:pic>
        <p:nvPicPr>
          <p:cNvPr id="5" name="Image 0" descr="preencoded.png">    </p:cNvPr>
          <p:cNvPicPr>
            <a:picLocks noChangeAspect="1"/>
          </p:cNvPicPr>
          <p:nvPr/>
        </p:nvPicPr>
        <p:blipFill>
          <a:blip r:embed="rId1"/>
          <a:stretch>
            <a:fillRect/>
          </a:stretch>
        </p:blipFill>
        <p:spPr>
          <a:xfrm>
            <a:off x="817474" y="1548994"/>
            <a:ext cx="285293" cy="285293"/>
          </a:xfrm>
          <a:prstGeom prst="rect">
            <a:avLst/>
          </a:prstGeom>
        </p:spPr>
      </p:pic>
      <p:sp>
        <p:nvSpPr>
          <p:cNvPr id="6" name="Text 3"/>
          <p:cNvSpPr txBox="1"/>
          <p:nvPr/>
        </p:nvSpPr>
        <p:spPr>
          <a:xfrm>
            <a:off x="1463040" y="1188720"/>
            <a:ext cx="7040880" cy="11430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Les vols prennent du retard en fin de journée, parce que les retards se transmettent d'un vol à l'autre du même avion.</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Piste d'action : protéger les premières rotations du matin (marges au sol, avions de réserve).</a:t>
            </a:r>
            <a:endParaRPr lang="en-US" sz="1400" dirty="0"/>
          </a:p>
        </p:txBody>
      </p:sp>
      <p:sp>
        <p:nvSpPr>
          <p:cNvPr id="7" name="Shape 4"/>
          <p:cNvSpPr/>
          <p:nvPr/>
        </p:nvSpPr>
        <p:spPr>
          <a:xfrm>
            <a:off x="457200" y="2697480"/>
            <a:ext cx="411480" cy="411480"/>
          </a:xfrm>
          <a:prstGeom prst="ellipse">
            <a:avLst/>
          </a:prstGeom>
          <a:solidFill>
            <a:srgbClr val="2A78D6"/>
          </a:solidFill>
          <a:ln w="12700">
            <a:solidFill>
              <a:srgbClr val="2A78D6"/>
            </a:solidFill>
            <a:prstDash val="solid"/>
          </a:ln>
        </p:spPr>
      </p:sp>
      <p:pic>
        <p:nvPicPr>
          <p:cNvPr id="8" name="Image 1" descr="preencoded.png">    </p:cNvPr>
          <p:cNvPicPr>
            <a:picLocks noChangeAspect="1"/>
          </p:cNvPicPr>
          <p:nvPr/>
        </p:nvPicPr>
        <p:blipFill>
          <a:blip r:embed="rId2"/>
          <a:stretch>
            <a:fillRect/>
          </a:stretch>
        </p:blipFill>
        <p:spPr>
          <a:xfrm>
            <a:off x="555955" y="2796235"/>
            <a:ext cx="213970" cy="213970"/>
          </a:xfrm>
          <a:prstGeom prst="rect">
            <a:avLst/>
          </a:prstGeom>
        </p:spPr>
      </p:pic>
      <p:sp>
        <p:nvSpPr>
          <p:cNvPr id="9" name="Text 5"/>
          <p:cNvSpPr txBox="1"/>
          <p:nvPr/>
        </p:nvSpPr>
        <p:spPr>
          <a:xfrm>
            <a:off x="1005840" y="2697480"/>
            <a:ext cx="2743200" cy="41148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Limites</a:t>
            </a:r>
            <a:endParaRPr lang="en-US" sz="1600" dirty="0"/>
          </a:p>
        </p:txBody>
      </p:sp>
      <p:sp>
        <p:nvSpPr>
          <p:cNvPr id="10" name="Text 6"/>
          <p:cNvSpPr txBox="1"/>
          <p:nvPr/>
        </p:nvSpPr>
        <p:spPr>
          <a:xfrm>
            <a:off x="457200" y="3200400"/>
            <a:ext cx="5120640" cy="146304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Un seul aéroport, deux mois d'été : pas de généralisation automatique</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Pas de météo ni de causes détaillées de retard dans ce fichier</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Vols retour vers Atlanta non observés ; Delta = 66 % des vols</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Associations, pas preuves de causalité</a:t>
            </a:r>
            <a:endParaRPr lang="en-US" sz="1200" dirty="0"/>
          </a:p>
        </p:txBody>
      </p:sp>
      <p:sp>
        <p:nvSpPr>
          <p:cNvPr id="11" name="Shape 7"/>
          <p:cNvSpPr/>
          <p:nvPr/>
        </p:nvSpPr>
        <p:spPr>
          <a:xfrm>
            <a:off x="5852160" y="2697480"/>
            <a:ext cx="2834640" cy="1920240"/>
          </a:xfrm>
          <a:prstGeom prst="rect">
            <a:avLst/>
          </a:prstGeom>
          <a:solidFill>
            <a:srgbClr val="EEF3FA"/>
          </a:solidFill>
          <a:ln w="12700">
            <a:solidFill>
              <a:srgbClr val="EEF3FA"/>
            </a:solidFill>
            <a:prstDash val="solid"/>
          </a:ln>
        </p:spPr>
      </p:sp>
      <p:sp>
        <p:nvSpPr>
          <p:cNvPr id="12" name="Text 8"/>
          <p:cNvSpPr txBox="1"/>
          <p:nvPr/>
        </p:nvSpPr>
        <p:spPr>
          <a:xfrm>
            <a:off x="6035040" y="2834640"/>
            <a:ext cx="2514600" cy="164592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Avec plus de données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météo heure par heure, causes officielles de retard, une année complète, vols arrivant à Atlanta.</a:t>
            </a:r>
            <a:endParaRPr lang="en-US" sz="1200" dirty="0"/>
          </a:p>
        </p:txBody>
      </p:sp>
      <p:sp>
        <p:nvSpPr>
          <p:cNvPr id="13" name="Text 9"/>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9:30 – 10:00 · Conclusion</a:t>
            </a:r>
            <a:endParaRPr lang="en-US" sz="900" dirty="0"/>
          </a:p>
        </p:txBody>
      </p:sp>
      <p:sp>
        <p:nvSpPr>
          <p:cNvPr id="14" name="Text 10"/>
          <p:cNvSpPr txBox="1"/>
          <p:nvPr/>
        </p:nvSpPr>
        <p:spPr>
          <a:xfrm>
            <a:off x="5029200" y="4800600"/>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11/12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Merci !</a:t>
            </a:r>
            <a:endParaRPr lang="en-US" sz="4400" dirty="0"/>
          </a:p>
        </p:txBody>
      </p:sp>
      <p:sp>
        <p:nvSpPr>
          <p:cNvPr id="3" name="Text 1"/>
          <p:cNvSpPr txBox="1"/>
          <p:nvPr/>
        </p:nvSpPr>
        <p:spPr>
          <a:xfrm>
            <a:off x="548640" y="2194560"/>
            <a:ext cx="8046720" cy="548640"/>
          </a:xfrm>
          <a:prstGeom prst="rect">
            <a:avLst/>
          </a:prstGeom>
          <a:noFill/>
          <a:ln/>
        </p:spPr>
        <p:txBody>
          <a:bodyPr wrap="square" lIns="0" tIns="0" rIns="0" bIns="0" rtlCol="0" anchor="ctr"/>
          <a:lstStyle/>
          <a:p>
            <a:pPr indent="0" marL="0">
              <a:buNone/>
            </a:pPr>
            <a:r>
              <a:rPr lang="en-US" sz="2400" dirty="0">
                <a:solidFill>
                  <a:srgbClr val="EB6834"/>
                </a:solidFill>
                <a:latin typeface="Calibri" pitchFamily="34" charset="0"/>
                <a:ea typeface="Calibri" pitchFamily="34" charset="-122"/>
                <a:cs typeface="Calibri" pitchFamily="34" charset="-120"/>
              </a:rPr>
              <a:t>Questions ?</a:t>
            </a:r>
            <a:endParaRPr lang="en-US" sz="2400" dirty="0"/>
          </a:p>
        </p:txBody>
      </p:sp>
      <p:sp>
        <p:nvSpPr>
          <p:cNvPr id="4" name="Text 2"/>
          <p:cNvSpPr txBox="1"/>
          <p:nvPr/>
        </p:nvSpPr>
        <p:spPr>
          <a:xfrm>
            <a:off x="548640" y="3749040"/>
            <a:ext cx="8046720" cy="6400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Notebook : notebooks/analysis.ipynb · Dashboard : dashboard/app.py</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Données : Bureau of Transportation Statistics via Kaggle « Flight Status Prediction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L'effet domino des retards — Présentation finale</dc:title>
  <dc:subject>PptxGenJS Presentation</dc:subject>
  <dc:creator>PptxGenJS</dc:creator>
  <cp:lastModifiedBy>PptxGenJS</cp:lastModifiedBy>
  <cp:revision>1</cp:revision>
  <dcterms:created xsi:type="dcterms:W3CDTF">2026-09-26T13:47:59Z</dcterms:created>
  <dcterms:modified xsi:type="dcterms:W3CDTF">2026-09-26T13:47:59Z</dcterms:modified>
</cp:coreProperties>
</file>