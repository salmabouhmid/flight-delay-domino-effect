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 de vols en retard</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B6834"/>
              </a:solidFill>
              <a:ln w="9525" cap="flat">
                <a:solidFill>
                  <a:srgbClr val="EB6834"/>
                </a:solidFill>
                <a:prstDash val="solid"/>
                <a:round/>
              </a:ln>
              <a:effectLst/>
            </c:spPr>
          </c:marker>
          <c:cat>
            <c:multiLvlStrRef>
              <c:f>Sheet1!$A$2:$A$20</c:f>
              <c:multiLvlStrCache>
                <c:ptCount val="19"/>
                <c:lvl>
                  <c:pt idx="0">
                    <c:v>5 h</c:v>
                  </c:pt>
                  <c:pt idx="1">
                    <c:v>6 h</c:v>
                  </c:pt>
                  <c:pt idx="2">
                    <c:v>7 h</c:v>
                  </c:pt>
                  <c:pt idx="3">
                    <c:v>8 h</c:v>
                  </c:pt>
                  <c:pt idx="4">
                    <c:v>9 h</c:v>
                  </c:pt>
                  <c:pt idx="5">
                    <c:v>10 h</c:v>
                  </c:pt>
                  <c:pt idx="6">
                    <c:v>11 h</c:v>
                  </c:pt>
                  <c:pt idx="7">
                    <c:v>12 h</c:v>
                  </c:pt>
                  <c:pt idx="8">
                    <c:v>13 h</c:v>
                  </c:pt>
                  <c:pt idx="9">
                    <c:v>14 h</c:v>
                  </c:pt>
                  <c:pt idx="10">
                    <c:v>15 h</c:v>
                  </c:pt>
                  <c:pt idx="11">
                    <c:v>16 h</c:v>
                  </c:pt>
                  <c:pt idx="12">
                    <c:v>17 h</c:v>
                  </c:pt>
                  <c:pt idx="13">
                    <c:v>18 h</c:v>
                  </c:pt>
                  <c:pt idx="14">
                    <c:v>19 h</c:v>
                  </c:pt>
                  <c:pt idx="15">
                    <c:v>20 h</c:v>
                  </c:pt>
                  <c:pt idx="16">
                    <c:v>21 h</c:v>
                  </c:pt>
                  <c:pt idx="17">
                    <c:v>22 h</c:v>
                  </c:pt>
                  <c:pt idx="18">
                    <c:v>23 h</c:v>
                  </c:pt>
                </c:lvl>
              </c:multiLvlStrCache>
            </c:multiLvlStrRef>
          </c:cat>
          <c:val>
            <c:numRef>
              <c:f>Sheet1!$B$2:$B$20</c:f>
              <c:numCache>
                <c:formatCode>General</c:formatCode>
                <c:ptCount val="19"/>
                <c:pt idx="0">
                  <c:v>11.7</c:v>
                </c:pt>
                <c:pt idx="1">
                  <c:v>12.9</c:v>
                </c:pt>
                <c:pt idx="2">
                  <c:v>13.5</c:v>
                </c:pt>
                <c:pt idx="3">
                  <c:v>14</c:v>
                </c:pt>
                <c:pt idx="4">
                  <c:v>17.5</c:v>
                </c:pt>
                <c:pt idx="5">
                  <c:v>18</c:v>
                </c:pt>
                <c:pt idx="6">
                  <c:v>20.5</c:v>
                </c:pt>
                <c:pt idx="7">
                  <c:v>21</c:v>
                </c:pt>
                <c:pt idx="8">
                  <c:v>22.7</c:v>
                </c:pt>
                <c:pt idx="9">
                  <c:v>24.4</c:v>
                </c:pt>
                <c:pt idx="10">
                  <c:v>26</c:v>
                </c:pt>
                <c:pt idx="11">
                  <c:v>33.1</c:v>
                </c:pt>
                <c:pt idx="12">
                  <c:v>32.1</c:v>
                </c:pt>
                <c:pt idx="13">
                  <c:v>35</c:v>
                </c:pt>
                <c:pt idx="14">
                  <c:v>35.5</c:v>
                </c:pt>
                <c:pt idx="15">
                  <c:v>40.2</c:v>
                </c:pt>
                <c:pt idx="16">
                  <c:v>35.3</c:v>
                </c:pt>
                <c:pt idx="17">
                  <c:v>36.9</c:v>
                </c:pt>
                <c:pt idx="18">
                  <c:v>40.9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E1E0D9"/>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libri"/>
              </a:defRPr>
            </a:pPr>
            <a:r>
              <a:rPr sz="1300" b="0" i="0" u="none" strike="noStrike">
                <a:solidFill>
                  <a:srgbClr val="14213D"/>
                </a:solidFill>
                <a:latin typeface="Calibri"/>
              </a:rPr>
              <a:t>Et selon la compagnie ?</a:t>
            </a:r>
          </a:p>
        </c:rich>
      </c:tx>
      <c:layout/>
      <c:overlay val="0"/>
    </c:title>
    <c:autoTitleDeleted val="0"/>
    <c:plotArea>
      <c:layout/>
      <c:barChart>
        <c:barDir val="bar"/>
        <c:grouping val="clustered"/>
        <c:varyColors val="0"/>
        <c:ser>
          <c:idx val="0"/>
          <c:order val="0"/>
          <c:tx>
            <c:strRef>
              <c:f>Sheet1!$B$1</c:f>
              <c:strCache>
                <c:ptCount val="1"/>
                <c:pt idx="0">
                  <c:v>% de vols en retard</c:v>
                </c:pt>
              </c:strCache>
            </c:strRef>
          </c:tx>
          <c:spPr>
            <a:solidFill>
              <a:srgbClr val="2A78D6"/>
            </a:solidFill>
            <a:effectLst/>
          </c:spPr>
          <c:invertIfNegative val="0"/>
          <c:dLbls>
            <c:numFmt formatCode="0&quot; %&quot;"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EB6834"/>
              </a:solidFill>
              <a:effectLst/>
            </c:spPr>
          </c:dPt>
          <c:dPt>
            <c:idx val="7"/>
            <c:invertIfNegative val="0"/>
            <c:bubble3D val="0"/>
            <c:spPr>
              <a:solidFill>
                <a:srgbClr val="EB6834"/>
              </a:solidFill>
              <a:effectLst/>
            </c:spPr>
          </c:dPt>
          <c:cat>
            <c:multiLvlStrRef>
              <c:f>Sheet1!$A$2:$A$9</c:f>
              <c:multiLvlStrCache>
                <c:ptCount val="8"/>
                <c:lvl>
                  <c:pt idx="0">
                    <c:v>Endeavor</c:v>
                  </c:pt>
                  <c:pt idx="1">
                    <c:v>Republic</c:v>
                  </c:pt>
                  <c:pt idx="2">
                    <c:v>Spirit</c:v>
                  </c:pt>
                  <c:pt idx="3">
                    <c:v>Autres</c:v>
                  </c:pt>
                  <c:pt idx="4">
                    <c:v>Delta</c:v>
                  </c:pt>
                  <c:pt idx="5">
                    <c:v>American</c:v>
                  </c:pt>
                  <c:pt idx="6">
                    <c:v>Frontier</c:v>
                  </c:pt>
                  <c:pt idx="7">
                    <c:v>Southwest</c:v>
                  </c:pt>
                </c:lvl>
              </c:multiLvlStrCache>
            </c:multiLvlStrRef>
          </c:cat>
          <c:val>
            <c:numRef>
              <c:f>Sheet1!$B$2:$B$9</c:f>
              <c:numCache>
                <c:formatCode>General</c:formatCode>
                <c:ptCount val="8"/>
                <c:pt idx="0">
                  <c:v>17.9</c:v>
                </c:pt>
                <c:pt idx="1">
                  <c:v>18.7</c:v>
                </c:pt>
                <c:pt idx="2">
                  <c:v>19.3</c:v>
                </c:pt>
                <c:pt idx="3">
                  <c:v>24.3</c:v>
                </c:pt>
                <c:pt idx="4">
                  <c:v>26.1</c:v>
                </c:pt>
                <c:pt idx="5">
                  <c:v>28.6</c:v>
                </c:pt>
                <c:pt idx="6">
                  <c:v>35</c:v>
                </c:pt>
                <c:pt idx="7">
                  <c:v>37.1</c:v>
                </c:pt>
              </c:numCache>
            </c:numRef>
          </c:val>
        </c:ser>
        <c:dLbls>
          <c:numFmt formatCode="0&quot; %&quot;"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le premier état d'avancement de mon projet : le dataset choisi, la problématique, et les premières observations. Le sujet : les retards des vols au départ d'Atlanta pendant l'été 2022, et en particulier la façon dont un retard se transmet d'un vol à l'autre.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 d'un vol sur quatre part en retard à Atlanta en été. Ce qui m'intéresse, c'est qu'un retard ne reste pas isolé : l'avion doit repartir ensuite. C'est exactement ce que j'ai observé pendant mon stage chez ALSA à Agadir : un bus en retard sur son premier service décale tous les services suivants.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comparé sept datasets de transport. Trois ne respectaient pas la contrainte des 50 colonnes. Parmi les autres, j'ai retenu les vols américains : ce sont des données officielles du Bureau of Transportation Statistics, et surtout elles contiennent l'immatriculation de chaque avion, ce qui permet un angle original : suivre le même avion dans la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fichier 2022 contient 4 millions de vols. Je n'ai pas besoin de tout : j'ai délimité mon sujet aux départs d'Atlanta en juin et juillet, soit 54 461 vols et 61 colonnes. Attention : ce n'est pas un échantillonnage, c'est le choix du périmètre d'étude. L'échantillonnage viendra ensuite, sur ces 54 461 vols.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problématique : quand et pourquoi les vols au départ d'Atlanta prennent-ils du retard pendant l'été 2022 ? Je la décompose en cinq sous-questions, de la plus simple, l'ampleur des retards, à la plus originale : est-ce qu'un retard se transmet au vol suivant du même avion ? J'utilise la définition officielle : un vol est en retard s'il part plus de 15 minutes après l'heure prévue.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dataset est de bonne qualité. Aucun doublon. Les valeurs manquantes ne sont pas des erreurs : ce sont les vols annulés ou déviés, qui n'ont pas d'heure de départ ou d'arrivée. Je ne les remplis pas, car inventer un retard pour un vol annulé n'aurait pas de sens. Les retards extrêmes sont de vrais retards : je les garde, et j'utilise des indicateurs robustes comme la médiane et le pourcentage de vols en retard.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observation : le pourcentage de vols en retard augmente presque régulièrement au fil de la journée. Environ 12 % le matin, environ 40 % le soir. Un vol du soir a trois fois plus de risque d'être en retard. Mon hypothèse : les petits retards s'additionnent d'un vol à l'autre. C'est ce que je vérifie sur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observation, la plus importante. Grâce à l'immatriculation des avions, je regarde pour chaque départ si le départ précédent du même avion, le même jour, était en retard. Si oui, le vol suivant est en retard une fois sur deux, contre une fois sur quatre sinon. C'est l'effet domino. Attention, c'est une association et pas une preuve de causalité. À droite, on voit aussi de gros écarts entre compagnies : Southwest et Frontier sont deux fois plus souvent en retard qu'Endeavor.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suite : cette semaine, le nettoyage documenté, la comparaison de cinq méthodes d'échantillonnage et les analyses à plusieurs niveaux. La semaine prochaine, le dashboard Streamlit, les insights et les limites. Puis le rapport, la présentation finale et la mise en ligne. Merci, je suis prête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731520"/>
            <a:ext cx="640080" cy="640080"/>
          </a:xfrm>
          <a:prstGeom prst="rect">
            <a:avLst/>
          </a:prstGeom>
        </p:spPr>
      </p:pic>
      <p:sp>
        <p:nvSpPr>
          <p:cNvPr id="3"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L'effet domino des retards</a:t>
            </a:r>
            <a:endParaRPr lang="en-US" sz="4200" dirty="0"/>
          </a:p>
        </p:txBody>
      </p:sp>
      <p:sp>
        <p:nvSpPr>
          <p:cNvPr id="4" name="Text 1"/>
          <p:cNvSpPr txBox="1"/>
          <p:nvPr/>
        </p:nvSpPr>
        <p:spPr>
          <a:xfrm>
            <a:off x="548640" y="2377440"/>
            <a:ext cx="804672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Quand et pourquoi les vols au départ d'Atlanta prennent-ils du retard ? — Été 2022</a:t>
            </a:r>
            <a:endParaRPr lang="en-US" sz="1800" dirty="0"/>
          </a:p>
        </p:txBody>
      </p:sp>
      <p:sp>
        <p:nvSpPr>
          <p:cNvPr id="5" name="Text 2"/>
          <p:cNvSpPr txBox="1"/>
          <p:nvPr/>
        </p:nvSpPr>
        <p:spPr>
          <a:xfrm>
            <a:off x="548640" y="3566160"/>
            <a:ext cx="804672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Salma Bouhmid</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Projet final — Visualisation des données</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Rendu d'étape 1 : dataset, problématique, premières observations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Pourquoi étudier les retards ?</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La ponctualité est l'indicateur n°1 de tout transporteur</a:t>
            </a:r>
            <a:endParaRPr lang="en-US" sz="1400" dirty="0"/>
          </a:p>
        </p:txBody>
      </p:sp>
      <p:sp>
        <p:nvSpPr>
          <p:cNvPr id="4" name="Text 2"/>
          <p:cNvSpPr txBox="1"/>
          <p:nvPr/>
        </p:nvSpPr>
        <p:spPr>
          <a:xfrm>
            <a:off x="457200" y="1417320"/>
            <a:ext cx="3291840" cy="1188720"/>
          </a:xfrm>
          <a:prstGeom prst="rect">
            <a:avLst/>
          </a:prstGeom>
          <a:noFill/>
          <a:ln/>
        </p:spPr>
        <p:txBody>
          <a:bodyPr wrap="square" lIns="0" tIns="0" rIns="0" bIns="0" rtlCol="0" anchor="ctr"/>
          <a:lstStyle/>
          <a:p>
            <a:pPr indent="0" marL="0">
              <a:buNone/>
            </a:pPr>
            <a:r>
              <a:rPr lang="en-US" sz="7200" b="1" dirty="0">
                <a:solidFill>
                  <a:srgbClr val="EB6834"/>
                </a:solidFill>
                <a:latin typeface="Calibri" pitchFamily="34" charset="0"/>
                <a:ea typeface="Calibri" pitchFamily="34" charset="-122"/>
                <a:cs typeface="Calibri" pitchFamily="34" charset="-120"/>
              </a:rPr>
              <a:t>26 %</a:t>
            </a:r>
            <a:endParaRPr lang="en-US" sz="7200" dirty="0"/>
          </a:p>
        </p:txBody>
      </p:sp>
      <p:sp>
        <p:nvSpPr>
          <p:cNvPr id="5" name="Text 3"/>
          <p:cNvSpPr txBox="1"/>
          <p:nvPr/>
        </p:nvSpPr>
        <p:spPr>
          <a:xfrm>
            <a:off x="457200" y="2606040"/>
            <a:ext cx="3291840" cy="8229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des vols au départ d'Atlanta partent avec plus de 15 minutes de retard (juin–juillet 2022)</a:t>
            </a:r>
            <a:endParaRPr lang="en-US" sz="1400" dirty="0"/>
          </a:p>
        </p:txBody>
      </p:sp>
      <p:sp>
        <p:nvSpPr>
          <p:cNvPr id="6" name="Shape 4"/>
          <p:cNvSpPr/>
          <p:nvPr/>
        </p:nvSpPr>
        <p:spPr>
          <a:xfrm>
            <a:off x="4297680" y="1371600"/>
            <a:ext cx="457200" cy="457200"/>
          </a:xfrm>
          <a:prstGeom prst="ellipse">
            <a:avLst/>
          </a:prstGeom>
          <a:solidFill>
            <a:srgbClr val="2A78D6"/>
          </a:solidFill>
          <a:ln w="12700">
            <a:solidFill>
              <a:srgbClr val="2A78D6"/>
            </a:solidFill>
            <a:prstDash val="solid"/>
          </a:ln>
        </p:spPr>
      </p:sp>
      <p:pic>
        <p:nvPicPr>
          <p:cNvPr id="7" name="Image 0" descr="preencoded.png">    </p:cNvPr>
          <p:cNvPicPr>
            <a:picLocks noChangeAspect="1"/>
          </p:cNvPicPr>
          <p:nvPr/>
        </p:nvPicPr>
        <p:blipFill>
          <a:blip r:embed="rId1"/>
          <a:stretch>
            <a:fillRect/>
          </a:stretch>
        </p:blipFill>
        <p:spPr>
          <a:xfrm>
            <a:off x="4407408" y="1481328"/>
            <a:ext cx="237744" cy="237744"/>
          </a:xfrm>
          <a:prstGeom prst="rect">
            <a:avLst/>
          </a:prstGeom>
        </p:spPr>
      </p:pic>
      <p:sp>
        <p:nvSpPr>
          <p:cNvPr id="8" name="Text 5"/>
          <p:cNvSpPr txBox="1"/>
          <p:nvPr/>
        </p:nvSpPr>
        <p:spPr>
          <a:xfrm>
            <a:off x="4937760" y="1353312"/>
            <a:ext cx="374904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Un retard ne reste pas isolé</a:t>
            </a:r>
            <a:endParaRPr lang="en-US" sz="1600" dirty="0"/>
          </a:p>
        </p:txBody>
      </p:sp>
      <p:sp>
        <p:nvSpPr>
          <p:cNvPr id="9" name="Text 6"/>
          <p:cNvSpPr txBox="1"/>
          <p:nvPr/>
        </p:nvSpPr>
        <p:spPr>
          <a:xfrm>
            <a:off x="4937760" y="1673352"/>
            <a:ext cx="374904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L'avion est attendu ailleurs : son retard peut se reporter sur ses vols suivants.</a:t>
            </a:r>
            <a:endParaRPr lang="en-US" sz="1200" dirty="0"/>
          </a:p>
        </p:txBody>
      </p:sp>
      <p:sp>
        <p:nvSpPr>
          <p:cNvPr id="10" name="Shape 7"/>
          <p:cNvSpPr/>
          <p:nvPr/>
        </p:nvSpPr>
        <p:spPr>
          <a:xfrm>
            <a:off x="4297680" y="2423160"/>
            <a:ext cx="457200" cy="457200"/>
          </a:xfrm>
          <a:prstGeom prst="ellipse">
            <a:avLst/>
          </a:prstGeom>
          <a:solidFill>
            <a:srgbClr val="2A78D6"/>
          </a:solidFill>
          <a:ln w="12700">
            <a:solidFill>
              <a:srgbClr val="2A78D6"/>
            </a:solidFill>
            <a:prstDash val="solid"/>
          </a:ln>
        </p:spPr>
      </p:sp>
      <p:pic>
        <p:nvPicPr>
          <p:cNvPr id="11" name="Image 1" descr="preencoded.png">    </p:cNvPr>
          <p:cNvPicPr>
            <a:picLocks noChangeAspect="1"/>
          </p:cNvPicPr>
          <p:nvPr/>
        </p:nvPicPr>
        <p:blipFill>
          <a:blip r:embed="rId2"/>
          <a:stretch>
            <a:fillRect/>
          </a:stretch>
        </p:blipFill>
        <p:spPr>
          <a:xfrm>
            <a:off x="4407408" y="2532888"/>
            <a:ext cx="237744" cy="237744"/>
          </a:xfrm>
          <a:prstGeom prst="rect">
            <a:avLst/>
          </a:prstGeom>
        </p:spPr>
      </p:pic>
      <p:sp>
        <p:nvSpPr>
          <p:cNvPr id="12" name="Text 8"/>
          <p:cNvSpPr txBox="1"/>
          <p:nvPr/>
        </p:nvSpPr>
        <p:spPr>
          <a:xfrm>
            <a:off x="4937760" y="2404872"/>
            <a:ext cx="374904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Atlanta, 1er aéroport du monde</a:t>
            </a:r>
            <a:endParaRPr lang="en-US" sz="1600" dirty="0"/>
          </a:p>
        </p:txBody>
      </p:sp>
      <p:sp>
        <p:nvSpPr>
          <p:cNvPr id="13" name="Text 9"/>
          <p:cNvSpPr txBox="1"/>
          <p:nvPr/>
        </p:nvSpPr>
        <p:spPr>
          <a:xfrm>
            <a:off x="4937760" y="2724912"/>
            <a:ext cx="374904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Hub principal de Delta : des milliers d'avions qui repartent plusieurs fois par jour.</a:t>
            </a:r>
            <a:endParaRPr lang="en-US" sz="1200" dirty="0"/>
          </a:p>
        </p:txBody>
      </p:sp>
      <p:sp>
        <p:nvSpPr>
          <p:cNvPr id="14" name="Shape 10"/>
          <p:cNvSpPr/>
          <p:nvPr/>
        </p:nvSpPr>
        <p:spPr>
          <a:xfrm>
            <a:off x="4297680" y="3474720"/>
            <a:ext cx="457200" cy="457200"/>
          </a:xfrm>
          <a:prstGeom prst="ellipse">
            <a:avLst/>
          </a:prstGeom>
          <a:solidFill>
            <a:srgbClr val="EB6834"/>
          </a:solidFill>
          <a:ln w="12700">
            <a:solidFill>
              <a:srgbClr val="EB6834"/>
            </a:solidFill>
            <a:prstDash val="solid"/>
          </a:ln>
        </p:spPr>
      </p:sp>
      <p:pic>
        <p:nvPicPr>
          <p:cNvPr id="15" name="Image 2" descr="preencoded.png">    </p:cNvPr>
          <p:cNvPicPr>
            <a:picLocks noChangeAspect="1"/>
          </p:cNvPicPr>
          <p:nvPr/>
        </p:nvPicPr>
        <p:blipFill>
          <a:blip r:embed="rId3"/>
          <a:stretch>
            <a:fillRect/>
          </a:stretch>
        </p:blipFill>
        <p:spPr>
          <a:xfrm>
            <a:off x="4407408" y="3584448"/>
            <a:ext cx="237744" cy="237744"/>
          </a:xfrm>
          <a:prstGeom prst="rect">
            <a:avLst/>
          </a:prstGeom>
        </p:spPr>
      </p:pic>
      <p:sp>
        <p:nvSpPr>
          <p:cNvPr id="16" name="Text 11"/>
          <p:cNvSpPr txBox="1"/>
          <p:nvPr/>
        </p:nvSpPr>
        <p:spPr>
          <a:xfrm>
            <a:off x="4937760" y="3456432"/>
            <a:ext cx="374904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Lien avec mon stage chez ALSA</a:t>
            </a:r>
            <a:endParaRPr lang="en-US" sz="1600" dirty="0"/>
          </a:p>
        </p:txBody>
      </p:sp>
      <p:sp>
        <p:nvSpPr>
          <p:cNvPr id="17" name="Text 12"/>
          <p:cNvSpPr txBox="1"/>
          <p:nvPr/>
        </p:nvSpPr>
        <p:spPr>
          <a:xfrm>
            <a:off x="4937760" y="3776472"/>
            <a:ext cx="374904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Même logique pour un réseau de bus : un premier service en retard décale les suivants.</a:t>
            </a:r>
            <a:endParaRPr lang="en-US" sz="1200" dirty="0"/>
          </a:p>
        </p:txBody>
      </p:sp>
      <p:sp>
        <p:nvSpPr>
          <p:cNvPr id="18" name="Text 1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Rendu d'étape 1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Recherche du dataset : 7 candidats comparés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Contraintes : Kaggle · ≥ 30 000 lignes · ≥ 50 colonnes · numériques + catégorielles · transport</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377440"/>
                <a:gridCol w="914400"/>
                <a:gridCol w="822960"/>
                <a:gridCol w="411480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Dataset Kaggle</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Lignes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Colonnes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4213D"/>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Vols USA 2018-2022 (BTS)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EEE7"/>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~29 M</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EEE7"/>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61</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EEE7"/>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 Retenu : données officielles, angle original</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DEEE7"/>
                    </a:solidFill>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Uber &amp; Lyft Boston</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693 071</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Seulement 22 jours, colonnes météo redondantes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Accidents France 2005-2016</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~840 000</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 tables à joindre, codes à décoder</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Accidents UK 2005-2017</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 M</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Très lourd (1,3 Go)</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US Accidents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7,7 M</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 Moins de 50 colonnes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Chicago Traffic Crashes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~900 000</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 Moins de 50 colonnes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r h="329184">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Taxis NYC / vélos Divvy</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millions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&lt; 25</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 Trop peu de colonnes</a:t>
                      </a:r>
                      <a:endParaRPr lang="en-US" sz="1100" dirty="0">
                        <a:latin typeface="Calibri" charset="0"/>
                        <a:ea typeface="Calibri" charset="0"/>
                        <a:cs typeface="Calibri" charset="0"/>
                      </a:endParaRPr>
                    </a:p>
                  </a:txBody>
                  <a:tcPr marL="54864" marR="54864" marT="54864" marB="54864"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r>
            </a:tbl>
          </a:graphicData>
        </a:graphic>
      </p:graphicFrame>
      <p:sp>
        <p:nvSpPr>
          <p:cNvPr id="5" name="Text 2"/>
          <p:cNvSpPr txBox="1"/>
          <p:nvPr/>
        </p:nvSpPr>
        <p:spPr>
          <a:xfrm>
            <a:off x="457200" y="4160520"/>
            <a:ext cx="822960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 après jointure des tables</a:t>
            </a:r>
            <a:endParaRPr lang="en-US" sz="1000" dirty="0"/>
          </a:p>
        </p:txBody>
      </p:sp>
      <p:sp>
        <p:nvSpPr>
          <p:cNvPr id="6"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Rendu d'étape 1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Le dataset retenu</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Kaggle « Flight Status Prediction » — source : Bureau of Transportation Statistics (BTS)</a:t>
            </a:r>
            <a:endParaRPr lang="en-US" sz="1400" dirty="0"/>
          </a:p>
        </p:txBody>
      </p:sp>
      <p:sp>
        <p:nvSpPr>
          <p:cNvPr id="4" name="Shape 2"/>
          <p:cNvSpPr/>
          <p:nvPr/>
        </p:nvSpPr>
        <p:spPr>
          <a:xfrm>
            <a:off x="457200" y="1325880"/>
            <a:ext cx="2606040" cy="1234440"/>
          </a:xfrm>
          <a:prstGeom prst="rect">
            <a:avLst/>
          </a:prstGeom>
          <a:solidFill>
            <a:srgbClr val="EEF3FA"/>
          </a:solidFill>
          <a:ln w="12700">
            <a:solidFill>
              <a:srgbClr val="EEF3FA"/>
            </a:solidFill>
            <a:prstDash val="solid"/>
          </a:ln>
        </p:spPr>
      </p:sp>
      <p:sp>
        <p:nvSpPr>
          <p:cNvPr id="5" name="Text 3"/>
          <p:cNvSpPr txBox="1"/>
          <p:nvPr/>
        </p:nvSpPr>
        <p:spPr>
          <a:xfrm>
            <a:off x="640080" y="1389888"/>
            <a:ext cx="2286000" cy="594360"/>
          </a:xfrm>
          <a:prstGeom prst="rect">
            <a:avLst/>
          </a:prstGeom>
          <a:noFill/>
          <a:ln/>
        </p:spPr>
        <p:txBody>
          <a:bodyPr wrap="square" lIns="0" tIns="0" rIns="0" bIns="0" rtlCol="0" anchor="ctr"/>
          <a:lstStyle/>
          <a:p>
            <a:pPr indent="0" marL="0">
              <a:buNone/>
            </a:pPr>
            <a:r>
              <a:rPr lang="en-US" sz="3200" b="1" dirty="0">
                <a:solidFill>
                  <a:srgbClr val="2A78D6"/>
                </a:solidFill>
                <a:latin typeface="Calibri" pitchFamily="34" charset="0"/>
                <a:ea typeface="Calibri" pitchFamily="34" charset="-122"/>
                <a:cs typeface="Calibri" pitchFamily="34" charset="-120"/>
              </a:rPr>
              <a:t>4 078 318</a:t>
            </a:r>
            <a:endParaRPr lang="en-US" sz="3200" dirty="0"/>
          </a:p>
        </p:txBody>
      </p:sp>
      <p:sp>
        <p:nvSpPr>
          <p:cNvPr id="6" name="Text 4"/>
          <p:cNvSpPr txBox="1"/>
          <p:nvPr/>
        </p:nvSpPr>
        <p:spPr>
          <a:xfrm>
            <a:off x="640080" y="1965960"/>
            <a:ext cx="228600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vols dans le fichier 2022</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(janvier à juillet)</a:t>
            </a:r>
            <a:endParaRPr lang="en-US" sz="1200" dirty="0"/>
          </a:p>
        </p:txBody>
      </p:sp>
      <p:sp>
        <p:nvSpPr>
          <p:cNvPr id="7" name="Shape 5"/>
          <p:cNvSpPr/>
          <p:nvPr/>
        </p:nvSpPr>
        <p:spPr>
          <a:xfrm>
            <a:off x="3246120" y="1325880"/>
            <a:ext cx="2606040" cy="1234440"/>
          </a:xfrm>
          <a:prstGeom prst="rect">
            <a:avLst/>
          </a:prstGeom>
          <a:solidFill>
            <a:srgbClr val="FDEEE7"/>
          </a:solidFill>
          <a:ln w="12700">
            <a:solidFill>
              <a:srgbClr val="FDEEE7"/>
            </a:solidFill>
            <a:prstDash val="solid"/>
          </a:ln>
        </p:spPr>
      </p:sp>
      <p:sp>
        <p:nvSpPr>
          <p:cNvPr id="8" name="Text 6"/>
          <p:cNvSpPr txBox="1"/>
          <p:nvPr/>
        </p:nvSpPr>
        <p:spPr>
          <a:xfrm>
            <a:off x="3429000" y="1389888"/>
            <a:ext cx="2286000" cy="594360"/>
          </a:xfrm>
          <a:prstGeom prst="rect">
            <a:avLst/>
          </a:prstGeom>
          <a:noFill/>
          <a:ln/>
        </p:spPr>
        <p:txBody>
          <a:bodyPr wrap="square" lIns="0" tIns="0" rIns="0" bIns="0" rtlCol="0" anchor="ctr"/>
          <a:lstStyle/>
          <a:p>
            <a:pPr indent="0" marL="0">
              <a:buNone/>
            </a:pPr>
            <a:r>
              <a:rPr lang="en-US" sz="3200" b="1" dirty="0">
                <a:solidFill>
                  <a:srgbClr val="EB6834"/>
                </a:solidFill>
                <a:latin typeface="Calibri" pitchFamily="34" charset="0"/>
                <a:ea typeface="Calibri" pitchFamily="34" charset="-122"/>
                <a:cs typeface="Calibri" pitchFamily="34" charset="-120"/>
              </a:rPr>
              <a:t>54 461</a:t>
            </a:r>
            <a:endParaRPr lang="en-US" sz="3200" dirty="0"/>
          </a:p>
        </p:txBody>
      </p:sp>
      <p:sp>
        <p:nvSpPr>
          <p:cNvPr id="9" name="Text 7"/>
          <p:cNvSpPr txBox="1"/>
          <p:nvPr/>
        </p:nvSpPr>
        <p:spPr>
          <a:xfrm>
            <a:off x="3429000" y="1965960"/>
            <a:ext cx="228600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vols dans notre périmètre</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 30 000 ✔)</a:t>
            </a:r>
            <a:endParaRPr lang="en-US" sz="1200" dirty="0"/>
          </a:p>
        </p:txBody>
      </p:sp>
      <p:sp>
        <p:nvSpPr>
          <p:cNvPr id="10" name="Shape 8"/>
          <p:cNvSpPr/>
          <p:nvPr/>
        </p:nvSpPr>
        <p:spPr>
          <a:xfrm>
            <a:off x="6035040" y="1325880"/>
            <a:ext cx="2606040" cy="1234440"/>
          </a:xfrm>
          <a:prstGeom prst="rect">
            <a:avLst/>
          </a:prstGeom>
          <a:solidFill>
            <a:srgbClr val="FDEEE7"/>
          </a:solidFill>
          <a:ln w="12700">
            <a:solidFill>
              <a:srgbClr val="FDEEE7"/>
            </a:solidFill>
            <a:prstDash val="solid"/>
          </a:ln>
        </p:spPr>
      </p:sp>
      <p:sp>
        <p:nvSpPr>
          <p:cNvPr id="11" name="Text 9"/>
          <p:cNvSpPr txBox="1"/>
          <p:nvPr/>
        </p:nvSpPr>
        <p:spPr>
          <a:xfrm>
            <a:off x="6217920" y="1389888"/>
            <a:ext cx="2286000" cy="594360"/>
          </a:xfrm>
          <a:prstGeom prst="rect">
            <a:avLst/>
          </a:prstGeom>
          <a:noFill/>
          <a:ln/>
        </p:spPr>
        <p:txBody>
          <a:bodyPr wrap="square" lIns="0" tIns="0" rIns="0" bIns="0" rtlCol="0" anchor="ctr"/>
          <a:lstStyle/>
          <a:p>
            <a:pPr indent="0" marL="0">
              <a:buNone/>
            </a:pPr>
            <a:r>
              <a:rPr lang="en-US" sz="3200" b="1" dirty="0">
                <a:solidFill>
                  <a:srgbClr val="EB6834"/>
                </a:solidFill>
                <a:latin typeface="Calibri" pitchFamily="34" charset="0"/>
                <a:ea typeface="Calibri" pitchFamily="34" charset="-122"/>
                <a:cs typeface="Calibri" pitchFamily="34" charset="-120"/>
              </a:rPr>
              <a:t>61</a:t>
            </a:r>
            <a:endParaRPr lang="en-US" sz="3200" dirty="0"/>
          </a:p>
        </p:txBody>
      </p:sp>
      <p:sp>
        <p:nvSpPr>
          <p:cNvPr id="12" name="Text 10"/>
          <p:cNvSpPr txBox="1"/>
          <p:nvPr/>
        </p:nvSpPr>
        <p:spPr>
          <a:xfrm>
            <a:off x="6217920" y="1965960"/>
            <a:ext cx="228600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colonnes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 50 ✔)</a:t>
            </a:r>
            <a:endParaRPr lang="en-US" sz="1200" dirty="0"/>
          </a:p>
        </p:txBody>
      </p:sp>
      <p:sp>
        <p:nvSpPr>
          <p:cNvPr id="13" name="Text 11"/>
          <p:cNvSpPr txBox="1"/>
          <p:nvPr/>
        </p:nvSpPr>
        <p:spPr>
          <a:xfrm>
            <a:off x="457200" y="2743200"/>
            <a:ext cx="8229600" cy="3200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Périmètre : tous les vols au départ d'Atlanta (ATL), juin + juillet 2022</a:t>
            </a:r>
            <a:endParaRPr lang="en-US" sz="1600" dirty="0"/>
          </a:p>
        </p:txBody>
      </p:sp>
      <p:sp>
        <p:nvSpPr>
          <p:cNvPr id="14" name="Text 12"/>
          <p:cNvSpPr txBox="1"/>
          <p:nvPr/>
        </p:nvSpPr>
        <p:spPr>
          <a:xfrm>
            <a:off x="457200" y="3108960"/>
            <a:ext cx="512064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Atlanta : aéroport le plus fréquenté du monde (14 compagnies, 147 destinations, 3 297 avions)</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Juin–juillet : pic des retards de l'année (≈ 26 % contre ≈ 15 % en janvier-février)</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Un seul aéroport : on peut suivre le même avion qui repart plusieurs fois par jour</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Juillet seul = 27 533 vols &lt; 30 000 → deux mois</a:t>
            </a:r>
            <a:endParaRPr lang="en-US" sz="1200" dirty="0"/>
          </a:p>
        </p:txBody>
      </p:sp>
      <p:sp>
        <p:nvSpPr>
          <p:cNvPr id="15" name="Text 13"/>
          <p:cNvSpPr txBox="1"/>
          <p:nvPr/>
        </p:nvSpPr>
        <p:spPr>
          <a:xfrm>
            <a:off x="5852160" y="3108960"/>
            <a:ext cx="2834640" cy="1417320"/>
          </a:xfrm>
          <a:prstGeom prst="rect">
            <a:avLst/>
          </a:prstGeom>
          <a:solidFill>
            <a:srgbClr val="EEF3FA"/>
          </a:solidFill>
          <a:ln/>
        </p:spPr>
        <p:txBody>
          <a:bodyPr wrap="square" lIns="127000" tIns="127000" rIns="127000" bIns="12700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Types de variables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41 numériques (retards, distance…)</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17 catégorielles (compagnie, destination…)</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2 vrai/faux (annulé, dévié)</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1 date</a:t>
            </a:r>
            <a:endParaRPr lang="en-US" sz="1200" dirty="0"/>
          </a:p>
        </p:txBody>
      </p:sp>
      <p:sp>
        <p:nvSpPr>
          <p:cNvPr id="16" name="Text 14"/>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Rendu d'étape 1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1600" b="1" dirty="0">
                <a:solidFill>
                  <a:srgbClr val="EB6834"/>
                </a:solidFill>
                <a:latin typeface="Calibri" pitchFamily="34" charset="0"/>
                <a:ea typeface="Calibri" pitchFamily="34" charset="-122"/>
                <a:cs typeface="Calibri" pitchFamily="34" charset="-120"/>
              </a:rPr>
              <a:t>Problématique</a:t>
            </a:r>
            <a:endParaRPr lang="en-US" sz="1600" dirty="0"/>
          </a:p>
        </p:txBody>
      </p:sp>
      <p:sp>
        <p:nvSpPr>
          <p:cNvPr id="3" name="Text 1"/>
          <p:cNvSpPr txBox="1"/>
          <p:nvPr/>
        </p:nvSpPr>
        <p:spPr>
          <a:xfrm>
            <a:off x="457200" y="731520"/>
            <a:ext cx="8229600" cy="9144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Quand et pourquoi les vols au départ d'Atlanta prennent-ils du retard pendant l'été 2022 ?</a:t>
            </a:r>
            <a:endParaRPr lang="en-US" sz="2600" dirty="0"/>
          </a:p>
        </p:txBody>
      </p:sp>
      <p:sp>
        <p:nvSpPr>
          <p:cNvPr id="4" name="Shape 2"/>
          <p:cNvSpPr/>
          <p:nvPr/>
        </p:nvSpPr>
        <p:spPr>
          <a:xfrm>
            <a:off x="457200" y="1874520"/>
            <a:ext cx="384048" cy="384048"/>
          </a:xfrm>
          <a:prstGeom prst="ellipse">
            <a:avLst/>
          </a:prstGeom>
          <a:solidFill>
            <a:srgbClr val="2A78D6"/>
          </a:solidFill>
          <a:ln w="12700">
            <a:solidFill>
              <a:srgbClr val="2A78D6"/>
            </a:solidFill>
            <a:prstDash val="solid"/>
          </a:ln>
        </p:spPr>
      </p:sp>
      <p:sp>
        <p:nvSpPr>
          <p:cNvPr id="5" name="Text 3"/>
          <p:cNvSpPr txBox="1"/>
          <p:nvPr/>
        </p:nvSpPr>
        <p:spPr>
          <a:xfrm>
            <a:off x="45720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05840" y="1874520"/>
            <a:ext cx="7680960" cy="384048"/>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Quelle est l'ampleur des retards ?</a:t>
            </a:r>
            <a:endParaRPr lang="en-US" sz="1600" dirty="0"/>
          </a:p>
        </p:txBody>
      </p:sp>
      <p:sp>
        <p:nvSpPr>
          <p:cNvPr id="7" name="Shape 5"/>
          <p:cNvSpPr/>
          <p:nvPr/>
        </p:nvSpPr>
        <p:spPr>
          <a:xfrm>
            <a:off x="457200" y="2423160"/>
            <a:ext cx="384048" cy="384048"/>
          </a:xfrm>
          <a:prstGeom prst="ellipse">
            <a:avLst/>
          </a:prstGeom>
          <a:solidFill>
            <a:srgbClr val="2A78D6"/>
          </a:solidFill>
          <a:ln w="12700">
            <a:solidFill>
              <a:srgbClr val="2A78D6"/>
            </a:solidFill>
            <a:prstDash val="solid"/>
          </a:ln>
        </p:spPr>
      </p:sp>
      <p:sp>
        <p:nvSpPr>
          <p:cNvPr id="8" name="Text 6"/>
          <p:cNvSpPr txBox="1"/>
          <p:nvPr/>
        </p:nvSpPr>
        <p:spPr>
          <a:xfrm>
            <a:off x="457200" y="2423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05840" y="2423160"/>
            <a:ext cx="7680960" cy="384048"/>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Comment le retard évolue-t-il au fil de la journée et de la semaine ?</a:t>
            </a:r>
            <a:endParaRPr lang="en-US" sz="1600" dirty="0"/>
          </a:p>
        </p:txBody>
      </p:sp>
      <p:sp>
        <p:nvSpPr>
          <p:cNvPr id="10" name="Shape 8"/>
          <p:cNvSpPr/>
          <p:nvPr/>
        </p:nvSpPr>
        <p:spPr>
          <a:xfrm>
            <a:off x="457200" y="2971800"/>
            <a:ext cx="384048" cy="384048"/>
          </a:xfrm>
          <a:prstGeom prst="ellipse">
            <a:avLst/>
          </a:prstGeom>
          <a:solidFill>
            <a:srgbClr val="2A78D6"/>
          </a:solidFill>
          <a:ln w="12700">
            <a:solidFill>
              <a:srgbClr val="2A78D6"/>
            </a:solidFill>
            <a:prstDash val="solid"/>
          </a:ln>
        </p:spPr>
      </p:sp>
      <p:sp>
        <p:nvSpPr>
          <p:cNvPr id="11" name="Text 9"/>
          <p:cNvSpPr txBox="1"/>
          <p:nvPr/>
        </p:nvSpPr>
        <p:spPr>
          <a:xfrm>
            <a:off x="457200" y="2971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005840" y="2971800"/>
            <a:ext cx="7680960" cy="384048"/>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Quelles compagnies et destinations sont les plus touchées ?</a:t>
            </a:r>
            <a:endParaRPr lang="en-US" sz="1600" dirty="0"/>
          </a:p>
        </p:txBody>
      </p:sp>
      <p:sp>
        <p:nvSpPr>
          <p:cNvPr id="13" name="Shape 11"/>
          <p:cNvSpPr/>
          <p:nvPr/>
        </p:nvSpPr>
        <p:spPr>
          <a:xfrm>
            <a:off x="457200" y="3520440"/>
            <a:ext cx="384048" cy="384048"/>
          </a:xfrm>
          <a:prstGeom prst="ellipse">
            <a:avLst/>
          </a:prstGeom>
          <a:solidFill>
            <a:srgbClr val="2A78D6"/>
          </a:solidFill>
          <a:ln w="12700">
            <a:solidFill>
              <a:srgbClr val="2A78D6"/>
            </a:solidFill>
            <a:prstDash val="solid"/>
          </a:ln>
        </p:spPr>
      </p:sp>
      <p:sp>
        <p:nvSpPr>
          <p:cNvPr id="14" name="Text 12"/>
          <p:cNvSpPr txBox="1"/>
          <p:nvPr/>
        </p:nvSpPr>
        <p:spPr>
          <a:xfrm>
            <a:off x="457200" y="3520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005840" y="3520440"/>
            <a:ext cx="7680960" cy="384048"/>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Le retard au départ se rattrape-t-il en vol ?</a:t>
            </a:r>
            <a:endParaRPr lang="en-US" sz="1600" dirty="0"/>
          </a:p>
        </p:txBody>
      </p:sp>
      <p:sp>
        <p:nvSpPr>
          <p:cNvPr id="16" name="Shape 14"/>
          <p:cNvSpPr/>
          <p:nvPr/>
        </p:nvSpPr>
        <p:spPr>
          <a:xfrm>
            <a:off x="457200" y="4069080"/>
            <a:ext cx="384048" cy="384048"/>
          </a:xfrm>
          <a:prstGeom prst="ellipse">
            <a:avLst/>
          </a:prstGeom>
          <a:solidFill>
            <a:srgbClr val="EB6834"/>
          </a:solidFill>
          <a:ln w="12700">
            <a:solidFill>
              <a:srgbClr val="EB6834"/>
            </a:solidFill>
            <a:prstDash val="solid"/>
          </a:ln>
        </p:spPr>
      </p:sp>
      <p:sp>
        <p:nvSpPr>
          <p:cNvPr id="17" name="Text 15"/>
          <p:cNvSpPr txBox="1"/>
          <p:nvPr/>
        </p:nvSpPr>
        <p:spPr>
          <a:xfrm>
            <a:off x="45720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005840" y="4069080"/>
            <a:ext cx="768096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Un retard se transmet-il au vol suivant du même avion ? (effet domino)</a:t>
            </a:r>
            <a:endParaRPr lang="en-US" sz="1600" dirty="0"/>
          </a:p>
        </p:txBody>
      </p:sp>
      <p:sp>
        <p:nvSpPr>
          <p:cNvPr id="19" name="Text 17"/>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Retard = départ plus de 15 min après l'heure prévue (définition officielle du BTS)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Qualité des données : un dataset propre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Exploration réalisée : types, manquants, doublons, valeurs aberrantes, incohérences</a:t>
            </a:r>
            <a:endParaRPr lang="en-US" sz="1400" dirty="0"/>
          </a:p>
        </p:txBody>
      </p:sp>
      <p:sp>
        <p:nvSpPr>
          <p:cNvPr id="4" name="Shape 2"/>
          <p:cNvSpPr/>
          <p:nvPr/>
        </p:nvSpPr>
        <p:spPr>
          <a:xfrm>
            <a:off x="457200" y="1371600"/>
            <a:ext cx="4023360" cy="1417320"/>
          </a:xfrm>
          <a:prstGeom prst="rect">
            <a:avLst/>
          </a:prstGeom>
          <a:solidFill>
            <a:srgbClr val="EEF3FA"/>
          </a:solidFill>
          <a:ln w="12700">
            <a:solidFill>
              <a:srgbClr val="EEF3FA"/>
            </a:solidFill>
            <a:prstDash val="solid"/>
          </a:ln>
        </p:spPr>
      </p:sp>
      <p:sp>
        <p:nvSpPr>
          <p:cNvPr id="5" name="Shape 3"/>
          <p:cNvSpPr/>
          <p:nvPr/>
        </p:nvSpPr>
        <p:spPr>
          <a:xfrm>
            <a:off x="640080" y="1554480"/>
            <a:ext cx="411480" cy="411480"/>
          </a:xfrm>
          <a:prstGeom prst="ellipse">
            <a:avLst/>
          </a:prstGeom>
          <a:solidFill>
            <a:srgbClr val="2A78D6"/>
          </a:solidFill>
          <a:ln w="12700">
            <a:solidFill>
              <a:srgbClr val="2A78D6"/>
            </a:solidFill>
            <a:prstDash val="solid"/>
          </a:ln>
        </p:spPr>
      </p:sp>
      <p:pic>
        <p:nvPicPr>
          <p:cNvPr id="6" name="Image 0" descr="preencoded.png">    </p:cNvPr>
          <p:cNvPicPr>
            <a:picLocks noChangeAspect="1"/>
          </p:cNvPicPr>
          <p:nvPr/>
        </p:nvPicPr>
        <p:blipFill>
          <a:blip r:embed="rId1"/>
          <a:stretch>
            <a:fillRect/>
          </a:stretch>
        </p:blipFill>
        <p:spPr>
          <a:xfrm>
            <a:off x="738835" y="1653235"/>
            <a:ext cx="213970" cy="213970"/>
          </a:xfrm>
          <a:prstGeom prst="rect">
            <a:avLst/>
          </a:prstGeom>
        </p:spPr>
      </p:pic>
      <p:sp>
        <p:nvSpPr>
          <p:cNvPr id="7" name="Text 4"/>
          <p:cNvSpPr txBox="1"/>
          <p:nvPr/>
        </p:nvSpPr>
        <p:spPr>
          <a:xfrm>
            <a:off x="1188720" y="1554480"/>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0 doublon</a:t>
            </a:r>
            <a:endParaRPr lang="en-US" sz="1600" dirty="0"/>
          </a:p>
        </p:txBody>
      </p:sp>
      <p:sp>
        <p:nvSpPr>
          <p:cNvPr id="8" name="Text 5"/>
          <p:cNvSpPr txBox="1"/>
          <p:nvPr/>
        </p:nvSpPr>
        <p:spPr>
          <a:xfrm>
            <a:off x="1188720" y="2029968"/>
            <a:ext cx="3154680"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Aucune ligne en double.</a:t>
            </a:r>
            <a:endParaRPr lang="en-US" sz="1200" dirty="0"/>
          </a:p>
        </p:txBody>
      </p:sp>
      <p:sp>
        <p:nvSpPr>
          <p:cNvPr id="9" name="Shape 6"/>
          <p:cNvSpPr/>
          <p:nvPr/>
        </p:nvSpPr>
        <p:spPr>
          <a:xfrm>
            <a:off x="4663440" y="1371600"/>
            <a:ext cx="4023360" cy="1417320"/>
          </a:xfrm>
          <a:prstGeom prst="rect">
            <a:avLst/>
          </a:prstGeom>
          <a:solidFill>
            <a:srgbClr val="EEF3FA"/>
          </a:solidFill>
          <a:ln w="12700">
            <a:solidFill>
              <a:srgbClr val="EEF3FA"/>
            </a:solidFill>
            <a:prstDash val="solid"/>
          </a:ln>
        </p:spPr>
      </p:sp>
      <p:sp>
        <p:nvSpPr>
          <p:cNvPr id="10" name="Shape 7"/>
          <p:cNvSpPr/>
          <p:nvPr/>
        </p:nvSpPr>
        <p:spPr>
          <a:xfrm>
            <a:off x="4846320" y="1554480"/>
            <a:ext cx="411480" cy="411480"/>
          </a:xfrm>
          <a:prstGeom prst="ellipse">
            <a:avLst/>
          </a:prstGeom>
          <a:solidFill>
            <a:srgbClr val="2A78D6"/>
          </a:solidFill>
          <a:ln w="12700">
            <a:solidFill>
              <a:srgbClr val="2A78D6"/>
            </a:solidFill>
            <a:prstDash val="solid"/>
          </a:ln>
        </p:spPr>
      </p:sp>
      <p:pic>
        <p:nvPicPr>
          <p:cNvPr id="11" name="Image 1" descr="preencoded.png">    </p:cNvPr>
          <p:cNvPicPr>
            <a:picLocks noChangeAspect="1"/>
          </p:cNvPicPr>
          <p:nvPr/>
        </p:nvPicPr>
        <p:blipFill>
          <a:blip r:embed="rId2"/>
          <a:stretch>
            <a:fillRect/>
          </a:stretch>
        </p:blipFill>
        <p:spPr>
          <a:xfrm>
            <a:off x="4945075" y="1653235"/>
            <a:ext cx="213970" cy="213970"/>
          </a:xfrm>
          <a:prstGeom prst="rect">
            <a:avLst/>
          </a:prstGeom>
        </p:spPr>
      </p:pic>
      <p:sp>
        <p:nvSpPr>
          <p:cNvPr id="12" name="Text 8"/>
          <p:cNvSpPr txBox="1"/>
          <p:nvPr/>
        </p:nvSpPr>
        <p:spPr>
          <a:xfrm>
            <a:off x="5394960" y="1554480"/>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Manquants expliqués</a:t>
            </a:r>
            <a:endParaRPr lang="en-US" sz="1600" dirty="0"/>
          </a:p>
        </p:txBody>
      </p:sp>
      <p:sp>
        <p:nvSpPr>
          <p:cNvPr id="13" name="Text 9"/>
          <p:cNvSpPr txBox="1"/>
          <p:nvPr/>
        </p:nvSpPr>
        <p:spPr>
          <a:xfrm>
            <a:off x="5394960" y="2029968"/>
            <a:ext cx="3154680"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 2 % : ce sont les 1 009 vols annulés et 123 déviés (pas d'heure de départ). Gardés, non remplis.</a:t>
            </a:r>
            <a:endParaRPr lang="en-US" sz="1200" dirty="0"/>
          </a:p>
        </p:txBody>
      </p:sp>
      <p:sp>
        <p:nvSpPr>
          <p:cNvPr id="14" name="Shape 10"/>
          <p:cNvSpPr/>
          <p:nvPr/>
        </p:nvSpPr>
        <p:spPr>
          <a:xfrm>
            <a:off x="457200" y="2971800"/>
            <a:ext cx="4023360" cy="1417320"/>
          </a:xfrm>
          <a:prstGeom prst="rect">
            <a:avLst/>
          </a:prstGeom>
          <a:solidFill>
            <a:srgbClr val="FDEEE7"/>
          </a:solidFill>
          <a:ln w="12700">
            <a:solidFill>
              <a:srgbClr val="FDEEE7"/>
            </a:solidFill>
            <a:prstDash val="solid"/>
          </a:ln>
        </p:spPr>
      </p:sp>
      <p:sp>
        <p:nvSpPr>
          <p:cNvPr id="15" name="Shape 11"/>
          <p:cNvSpPr/>
          <p:nvPr/>
        </p:nvSpPr>
        <p:spPr>
          <a:xfrm>
            <a:off x="640080" y="3154680"/>
            <a:ext cx="411480" cy="411480"/>
          </a:xfrm>
          <a:prstGeom prst="ellipse">
            <a:avLst/>
          </a:prstGeom>
          <a:solidFill>
            <a:srgbClr val="EB6834"/>
          </a:solidFill>
          <a:ln w="12700">
            <a:solidFill>
              <a:srgbClr val="EB6834"/>
            </a:solidFill>
            <a:prstDash val="solid"/>
          </a:ln>
        </p:spPr>
      </p:sp>
      <p:pic>
        <p:nvPicPr>
          <p:cNvPr id="16" name="Image 2" descr="preencoded.png">    </p:cNvPr>
          <p:cNvPicPr>
            <a:picLocks noChangeAspect="1"/>
          </p:cNvPicPr>
          <p:nvPr/>
        </p:nvPicPr>
        <p:blipFill>
          <a:blip r:embed="rId3"/>
          <a:stretch>
            <a:fillRect/>
          </a:stretch>
        </p:blipFill>
        <p:spPr>
          <a:xfrm>
            <a:off x="738835" y="3253435"/>
            <a:ext cx="213970" cy="213970"/>
          </a:xfrm>
          <a:prstGeom prst="rect">
            <a:avLst/>
          </a:prstGeom>
        </p:spPr>
      </p:pic>
      <p:sp>
        <p:nvSpPr>
          <p:cNvPr id="17" name="Text 12"/>
          <p:cNvSpPr txBox="1"/>
          <p:nvPr/>
        </p:nvSpPr>
        <p:spPr>
          <a:xfrm>
            <a:off x="1188720" y="3154680"/>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Retards extrêmes gardés</a:t>
            </a:r>
            <a:endParaRPr lang="en-US" sz="1600" dirty="0"/>
          </a:p>
        </p:txBody>
      </p:sp>
      <p:sp>
        <p:nvSpPr>
          <p:cNvPr id="18" name="Text 13"/>
          <p:cNvSpPr txBox="1"/>
          <p:nvPr/>
        </p:nvSpPr>
        <p:spPr>
          <a:xfrm>
            <a:off x="1188720" y="3630168"/>
            <a:ext cx="3154680"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 12 % au-delà de la règle IQR (&gt; 44,5 min), jusqu'à 41 h. Ce sont de vrais retards, pas des erreurs.</a:t>
            </a:r>
            <a:endParaRPr lang="en-US" sz="1200" dirty="0"/>
          </a:p>
        </p:txBody>
      </p:sp>
      <p:sp>
        <p:nvSpPr>
          <p:cNvPr id="19" name="Shape 14"/>
          <p:cNvSpPr/>
          <p:nvPr/>
        </p:nvSpPr>
        <p:spPr>
          <a:xfrm>
            <a:off x="4663440" y="2971800"/>
            <a:ext cx="4023360" cy="1417320"/>
          </a:xfrm>
          <a:prstGeom prst="rect">
            <a:avLst/>
          </a:prstGeom>
          <a:solidFill>
            <a:srgbClr val="EEF3FA"/>
          </a:solidFill>
          <a:ln w="12700">
            <a:solidFill>
              <a:srgbClr val="EEF3FA"/>
            </a:solidFill>
            <a:prstDash val="solid"/>
          </a:ln>
        </p:spPr>
      </p:sp>
      <p:sp>
        <p:nvSpPr>
          <p:cNvPr id="20" name="Shape 15"/>
          <p:cNvSpPr/>
          <p:nvPr/>
        </p:nvSpPr>
        <p:spPr>
          <a:xfrm>
            <a:off x="4846320" y="3154680"/>
            <a:ext cx="411480" cy="411480"/>
          </a:xfrm>
          <a:prstGeom prst="ellipse">
            <a:avLst/>
          </a:prstGeom>
          <a:solidFill>
            <a:srgbClr val="2A78D6"/>
          </a:solidFill>
          <a:ln w="12700">
            <a:solidFill>
              <a:srgbClr val="2A78D6"/>
            </a:solidFill>
            <a:prstDash val="solid"/>
          </a:ln>
        </p:spPr>
      </p:sp>
      <p:pic>
        <p:nvPicPr>
          <p:cNvPr id="21" name="Image 3" descr="preencoded.png">    </p:cNvPr>
          <p:cNvPicPr>
            <a:picLocks noChangeAspect="1"/>
          </p:cNvPicPr>
          <p:nvPr/>
        </p:nvPicPr>
        <p:blipFill>
          <a:blip r:embed="rId4"/>
          <a:stretch>
            <a:fillRect/>
          </a:stretch>
        </p:blipFill>
        <p:spPr>
          <a:xfrm>
            <a:off x="4945075" y="3253435"/>
            <a:ext cx="213970" cy="213970"/>
          </a:xfrm>
          <a:prstGeom prst="rect">
            <a:avLst/>
          </a:prstGeom>
        </p:spPr>
      </p:pic>
      <p:sp>
        <p:nvSpPr>
          <p:cNvPr id="22" name="Text 16"/>
          <p:cNvSpPr txBox="1"/>
          <p:nvPr/>
        </p:nvSpPr>
        <p:spPr>
          <a:xfrm>
            <a:off x="5394960" y="3154680"/>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10 colonnes constantes</a:t>
            </a:r>
            <a:endParaRPr lang="en-US" sz="1600" dirty="0"/>
          </a:p>
        </p:txBody>
      </p:sp>
      <p:sp>
        <p:nvSpPr>
          <p:cNvPr id="23" name="Text 17"/>
          <p:cNvSpPr txBox="1"/>
          <p:nvPr/>
        </p:nvSpPr>
        <p:spPr>
          <a:xfrm>
            <a:off x="5394960" y="3630168"/>
            <a:ext cx="3154680"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Ville de départ = Atlanta partout → supprimées au nettoyage (aucune information).</a:t>
            </a:r>
            <a:endParaRPr lang="en-US" sz="1200" dirty="0"/>
          </a:p>
        </p:txBody>
      </p:sp>
      <p:sp>
        <p:nvSpPr>
          <p:cNvPr id="24" name="Text 18"/>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Rendu d'étape 1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Observation 1 : le retard s'accumule au fil de la journée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 de vols partis avec plus de 15 min de retard, selon l'heure de départ prévue</a:t>
            </a:r>
            <a:endParaRPr lang="en-US" sz="1400" dirty="0"/>
          </a:p>
        </p:txBody>
      </p:sp>
      <p:graphicFrame>
        <p:nvGraphicFramePr>
          <p:cNvPr id="4" name="Chart 0" descr=""/>
          <p:cNvGraphicFramePr/>
          <p:nvPr/>
        </p:nvGraphicFramePr>
        <p:xfrm>
          <a:off x="365760" y="1234440"/>
          <a:ext cx="576072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00800" y="1371600"/>
            <a:ext cx="2286000" cy="822960"/>
          </a:xfrm>
          <a:prstGeom prst="rect">
            <a:avLst/>
          </a:prstGeom>
          <a:noFill/>
          <a:ln/>
        </p:spPr>
        <p:txBody>
          <a:bodyPr wrap="square" lIns="0" tIns="0" rIns="0" bIns="0" rtlCol="0" anchor="ctr"/>
          <a:lstStyle/>
          <a:p>
            <a:pPr indent="0" marL="0">
              <a:buNone/>
            </a:pPr>
            <a:r>
              <a:rPr lang="en-US" sz="6000" b="1" dirty="0">
                <a:solidFill>
                  <a:srgbClr val="EB6834"/>
                </a:solidFill>
                <a:latin typeface="Calibri" pitchFamily="34" charset="0"/>
                <a:ea typeface="Calibri" pitchFamily="34" charset="-122"/>
                <a:cs typeface="Calibri" pitchFamily="34" charset="-120"/>
              </a:rPr>
              <a:t>×3</a:t>
            </a:r>
            <a:endParaRPr lang="en-US" sz="6000" dirty="0"/>
          </a:p>
        </p:txBody>
      </p:sp>
      <p:sp>
        <p:nvSpPr>
          <p:cNvPr id="6" name="Text 3"/>
          <p:cNvSpPr txBox="1"/>
          <p:nvPr/>
        </p:nvSpPr>
        <p:spPr>
          <a:xfrm>
            <a:off x="6400800" y="2240280"/>
            <a:ext cx="2286000" cy="10972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Un vol du soir a environ 3 fois plus de risque d'être en retard qu'un vol du matin : ≈ 12 % à 6 h contre ≈ 40 % à 20 h.</a:t>
            </a:r>
            <a:endParaRPr lang="en-US" sz="1300" dirty="0"/>
          </a:p>
        </p:txBody>
      </p:sp>
      <p:sp>
        <p:nvSpPr>
          <p:cNvPr id="7" name="Text 4"/>
          <p:cNvSpPr txBox="1"/>
          <p:nvPr/>
        </p:nvSpPr>
        <p:spPr>
          <a:xfrm>
            <a:off x="6400800" y="3474720"/>
            <a:ext cx="2286000" cy="7315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Hypothèse : les petits retards s'additionnent d'un vol à l'autre.</a:t>
            </a:r>
            <a:endParaRPr lang="en-US" sz="120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Rendu d'étape 1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Observation 2 : l'effet domino est mesurable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Retard d'un vol selon le départ précédent du même avion, le même jour</a:t>
            </a:r>
            <a:endParaRPr lang="en-US" sz="1400" dirty="0"/>
          </a:p>
        </p:txBody>
      </p:sp>
      <p:sp>
        <p:nvSpPr>
          <p:cNvPr id="4" name="Shape 2"/>
          <p:cNvSpPr/>
          <p:nvPr/>
        </p:nvSpPr>
        <p:spPr>
          <a:xfrm>
            <a:off x="457200" y="1325880"/>
            <a:ext cx="1920240" cy="1554480"/>
          </a:xfrm>
          <a:prstGeom prst="rect">
            <a:avLst/>
          </a:prstGeom>
          <a:solidFill>
            <a:srgbClr val="EEF3FA"/>
          </a:solidFill>
          <a:ln w="12700">
            <a:solidFill>
              <a:srgbClr val="EEF3FA"/>
            </a:solidFill>
            <a:prstDash val="solid"/>
          </a:ln>
        </p:spPr>
      </p:sp>
      <p:sp>
        <p:nvSpPr>
          <p:cNvPr id="5" name="Text 3"/>
          <p:cNvSpPr txBox="1"/>
          <p:nvPr/>
        </p:nvSpPr>
        <p:spPr>
          <a:xfrm>
            <a:off x="594360" y="1417320"/>
            <a:ext cx="1737360" cy="731520"/>
          </a:xfrm>
          <a:prstGeom prst="rect">
            <a:avLst/>
          </a:prstGeom>
          <a:noFill/>
          <a:ln/>
        </p:spPr>
        <p:txBody>
          <a:bodyPr wrap="square" lIns="0" tIns="0" rIns="0" bIns="0" rtlCol="0" anchor="ctr"/>
          <a:lstStyle/>
          <a:p>
            <a:pPr indent="0" marL="0">
              <a:buNone/>
            </a:pPr>
            <a:r>
              <a:rPr lang="en-US" sz="4000" b="1" dirty="0">
                <a:solidFill>
                  <a:srgbClr val="2A78D6"/>
                </a:solidFill>
                <a:latin typeface="Calibri" pitchFamily="34" charset="0"/>
                <a:ea typeface="Calibri" pitchFamily="34" charset="-122"/>
                <a:cs typeface="Calibri" pitchFamily="34" charset="-120"/>
              </a:rPr>
              <a:t>24 %</a:t>
            </a:r>
            <a:endParaRPr lang="en-US" sz="4000" dirty="0"/>
          </a:p>
        </p:txBody>
      </p:sp>
      <p:sp>
        <p:nvSpPr>
          <p:cNvPr id="6" name="Text 4"/>
          <p:cNvSpPr txBox="1"/>
          <p:nvPr/>
        </p:nvSpPr>
        <p:spPr>
          <a:xfrm>
            <a:off x="594360" y="2148840"/>
            <a:ext cx="1691640" cy="6400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en retard si le vol précédent était à l'heure</a:t>
            </a:r>
            <a:endParaRPr lang="en-US" sz="1100" dirty="0"/>
          </a:p>
        </p:txBody>
      </p:sp>
      <p:sp>
        <p:nvSpPr>
          <p:cNvPr id="7" name="Shape 5"/>
          <p:cNvSpPr/>
          <p:nvPr/>
        </p:nvSpPr>
        <p:spPr>
          <a:xfrm>
            <a:off x="2560320" y="1325880"/>
            <a:ext cx="1920240" cy="1554480"/>
          </a:xfrm>
          <a:prstGeom prst="rect">
            <a:avLst/>
          </a:prstGeom>
          <a:solidFill>
            <a:srgbClr val="FDEEE7"/>
          </a:solidFill>
          <a:ln w="12700">
            <a:solidFill>
              <a:srgbClr val="FDEEE7"/>
            </a:solidFill>
            <a:prstDash val="solid"/>
          </a:ln>
        </p:spPr>
      </p:sp>
      <p:sp>
        <p:nvSpPr>
          <p:cNvPr id="8" name="Text 6"/>
          <p:cNvSpPr txBox="1"/>
          <p:nvPr/>
        </p:nvSpPr>
        <p:spPr>
          <a:xfrm>
            <a:off x="2697480" y="1417320"/>
            <a:ext cx="1737360" cy="731520"/>
          </a:xfrm>
          <a:prstGeom prst="rect">
            <a:avLst/>
          </a:prstGeom>
          <a:noFill/>
          <a:ln/>
        </p:spPr>
        <p:txBody>
          <a:bodyPr wrap="square" lIns="0" tIns="0" rIns="0" bIns="0" rtlCol="0" anchor="ctr"/>
          <a:lstStyle/>
          <a:p>
            <a:pPr indent="0" marL="0">
              <a:buNone/>
            </a:pPr>
            <a:r>
              <a:rPr lang="en-US" sz="4000" b="1" dirty="0">
                <a:solidFill>
                  <a:srgbClr val="EB6834"/>
                </a:solidFill>
                <a:latin typeface="Calibri" pitchFamily="34" charset="0"/>
                <a:ea typeface="Calibri" pitchFamily="34" charset="-122"/>
                <a:cs typeface="Calibri" pitchFamily="34" charset="-120"/>
              </a:rPr>
              <a:t>50 %</a:t>
            </a:r>
            <a:endParaRPr lang="en-US" sz="4000" dirty="0"/>
          </a:p>
        </p:txBody>
      </p:sp>
      <p:sp>
        <p:nvSpPr>
          <p:cNvPr id="9" name="Text 7"/>
          <p:cNvSpPr txBox="1"/>
          <p:nvPr/>
        </p:nvSpPr>
        <p:spPr>
          <a:xfrm>
            <a:off x="2697480" y="2148840"/>
            <a:ext cx="1691640" cy="64008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en retard si le vol précédent était en retard</a:t>
            </a:r>
            <a:endParaRPr lang="en-US" sz="1100" dirty="0"/>
          </a:p>
        </p:txBody>
      </p:sp>
      <p:sp>
        <p:nvSpPr>
          <p:cNvPr id="10" name="Text 8"/>
          <p:cNvSpPr txBox="1"/>
          <p:nvPr/>
        </p:nvSpPr>
        <p:spPr>
          <a:xfrm>
            <a:off x="457200" y="3063240"/>
            <a:ext cx="4023360" cy="82296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Un retard double le risque de retard du vol suivant du même avion — et c'est vrai à chaque heure de la journée.</a:t>
            </a:r>
            <a:endParaRPr lang="en-US" sz="1300" dirty="0"/>
          </a:p>
        </p:txBody>
      </p:sp>
      <p:sp>
        <p:nvSpPr>
          <p:cNvPr id="11" name="Text 9"/>
          <p:cNvSpPr txBox="1"/>
          <p:nvPr/>
        </p:nvSpPr>
        <p:spPr>
          <a:xfrm>
            <a:off x="457200" y="3931920"/>
            <a:ext cx="4023360" cy="64008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Association, pas preuve de causalité : les deux vols partagent la même journée (météo, affluence).</a:t>
            </a:r>
            <a:endParaRPr lang="en-US" sz="1100" dirty="0"/>
          </a:p>
        </p:txBody>
      </p:sp>
      <p:graphicFrame>
        <p:nvGraphicFramePr>
          <p:cNvPr id="12" name="Chart 0" descr=""/>
          <p:cNvGraphicFramePr/>
          <p:nvPr/>
        </p:nvGraphicFramePr>
        <p:xfrm>
          <a:off x="4754880" y="1188720"/>
          <a:ext cx="4023360" cy="356616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Rendu d'étape 1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Suite du projet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Deux semaines pour passer des premières observations à un outil interactif</a:t>
            </a:r>
            <a:endParaRPr lang="en-US" sz="1400" dirty="0"/>
          </a:p>
        </p:txBody>
      </p:sp>
      <p:sp>
        <p:nvSpPr>
          <p:cNvPr id="4" name="Shape 2"/>
          <p:cNvSpPr/>
          <p:nvPr/>
        </p:nvSpPr>
        <p:spPr>
          <a:xfrm>
            <a:off x="1234440" y="1463040"/>
            <a:ext cx="365760" cy="365760"/>
          </a:xfrm>
          <a:prstGeom prst="ellipse">
            <a:avLst/>
          </a:prstGeom>
          <a:solidFill>
            <a:srgbClr val="2A78D6"/>
          </a:solidFill>
          <a:ln w="12700">
            <a:solidFill>
              <a:srgbClr val="2A78D6"/>
            </a:solidFill>
            <a:prstDash val="solid"/>
          </a:ln>
        </p:spPr>
      </p:sp>
      <p:sp>
        <p:nvSpPr>
          <p:cNvPr id="5" name="Shape 3"/>
          <p:cNvSpPr/>
          <p:nvPr/>
        </p:nvSpPr>
        <p:spPr>
          <a:xfrm>
            <a:off x="1645920" y="1645920"/>
            <a:ext cx="1645920" cy="0"/>
          </a:xfrm>
          <a:prstGeom prst="line">
            <a:avLst/>
          </a:prstGeom>
          <a:noFill/>
          <a:ln w="25400">
            <a:solidFill>
              <a:srgbClr val="E1E0D9"/>
            </a:solidFill>
            <a:prstDash val="solid"/>
          </a:ln>
        </p:spPr>
      </p:sp>
      <p:sp>
        <p:nvSpPr>
          <p:cNvPr id="6" name="Text 4"/>
          <p:cNvSpPr txBox="1"/>
          <p:nvPr/>
        </p:nvSpPr>
        <p:spPr>
          <a:xfrm>
            <a:off x="457200" y="1965960"/>
            <a:ext cx="1920240" cy="365760"/>
          </a:xfrm>
          <a:prstGeom prst="rect">
            <a:avLst/>
          </a:prstGeom>
          <a:noFill/>
          <a:ln/>
        </p:spPr>
        <p:txBody>
          <a:bodyPr wrap="square" lIns="0" tIns="0" rIns="0" bIns="0" rtlCol="0" anchor="ctr"/>
          <a:lstStyle/>
          <a:p>
            <a:pPr algn="ctr" indent="0" marL="0">
              <a:buNone/>
            </a:pPr>
            <a:r>
              <a:rPr lang="en-US" sz="1600" b="1" dirty="0">
                <a:solidFill>
                  <a:srgbClr val="2A78D6"/>
                </a:solidFill>
                <a:latin typeface="Calibri" pitchFamily="34" charset="0"/>
                <a:ea typeface="Calibri" pitchFamily="34" charset="-122"/>
                <a:cs typeface="Calibri" pitchFamily="34" charset="-120"/>
              </a:rPr>
              <a:t>Fait</a:t>
            </a:r>
            <a:endParaRPr lang="en-US" sz="1600" dirty="0"/>
          </a:p>
        </p:txBody>
      </p:sp>
      <p:sp>
        <p:nvSpPr>
          <p:cNvPr id="7" name="Text 5"/>
          <p:cNvSpPr txBox="1"/>
          <p:nvPr/>
        </p:nvSpPr>
        <p:spPr>
          <a:xfrm>
            <a:off x="502920" y="2377440"/>
            <a:ext cx="1828800" cy="146304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Dataset, problématique, exploration, qualité</a:t>
            </a:r>
            <a:endParaRPr lang="en-US" sz="1200" dirty="0"/>
          </a:p>
        </p:txBody>
      </p:sp>
      <p:sp>
        <p:nvSpPr>
          <p:cNvPr id="8" name="Shape 6"/>
          <p:cNvSpPr/>
          <p:nvPr/>
        </p:nvSpPr>
        <p:spPr>
          <a:xfrm>
            <a:off x="3337560" y="1463040"/>
            <a:ext cx="365760" cy="365760"/>
          </a:xfrm>
          <a:prstGeom prst="ellipse">
            <a:avLst/>
          </a:prstGeom>
          <a:solidFill>
            <a:srgbClr val="EB6834"/>
          </a:solidFill>
          <a:ln w="12700">
            <a:solidFill>
              <a:srgbClr val="EB6834"/>
            </a:solidFill>
            <a:prstDash val="solid"/>
          </a:ln>
        </p:spPr>
      </p:sp>
      <p:sp>
        <p:nvSpPr>
          <p:cNvPr id="9" name="Shape 7"/>
          <p:cNvSpPr/>
          <p:nvPr/>
        </p:nvSpPr>
        <p:spPr>
          <a:xfrm>
            <a:off x="3749040" y="1645920"/>
            <a:ext cx="1645920" cy="0"/>
          </a:xfrm>
          <a:prstGeom prst="line">
            <a:avLst/>
          </a:prstGeom>
          <a:noFill/>
          <a:ln w="25400">
            <a:solidFill>
              <a:srgbClr val="E1E0D9"/>
            </a:solidFill>
            <a:prstDash val="solid"/>
          </a:ln>
        </p:spPr>
      </p:sp>
      <p:sp>
        <p:nvSpPr>
          <p:cNvPr id="10" name="Text 8"/>
          <p:cNvSpPr txBox="1"/>
          <p:nvPr/>
        </p:nvSpPr>
        <p:spPr>
          <a:xfrm>
            <a:off x="2560320" y="1965960"/>
            <a:ext cx="1920240" cy="365760"/>
          </a:xfrm>
          <a:prstGeom prst="rect">
            <a:avLst/>
          </a:prstGeom>
          <a:noFill/>
          <a:ln/>
        </p:spPr>
        <p:txBody>
          <a:bodyPr wrap="square" lIns="0" tIns="0" rIns="0" bIns="0" rtlCol="0" anchor="ctr"/>
          <a:lstStyle/>
          <a:p>
            <a:pPr algn="ctr" indent="0" marL="0">
              <a:buNone/>
            </a:pPr>
            <a:r>
              <a:rPr lang="en-US" sz="1600" b="1" dirty="0">
                <a:solidFill>
                  <a:srgbClr val="EB6834"/>
                </a:solidFill>
                <a:latin typeface="Calibri" pitchFamily="34" charset="0"/>
                <a:ea typeface="Calibri" pitchFamily="34" charset="-122"/>
                <a:cs typeface="Calibri" pitchFamily="34" charset="-120"/>
              </a:rPr>
              <a:t>Semaine 1</a:t>
            </a:r>
            <a:endParaRPr lang="en-US" sz="1600" dirty="0"/>
          </a:p>
        </p:txBody>
      </p:sp>
      <p:sp>
        <p:nvSpPr>
          <p:cNvPr id="11" name="Text 9"/>
          <p:cNvSpPr txBox="1"/>
          <p:nvPr/>
        </p:nvSpPr>
        <p:spPr>
          <a:xfrm>
            <a:off x="2606040" y="2377440"/>
            <a:ext cx="1828800" cy="146304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Nettoyage documenté · 5 méthodes d'échantillonnage comparées · analyses univariée, bivariée, multivariée</a:t>
            </a:r>
            <a:endParaRPr lang="en-US" sz="1200" dirty="0"/>
          </a:p>
        </p:txBody>
      </p:sp>
      <p:sp>
        <p:nvSpPr>
          <p:cNvPr id="12" name="Shape 10"/>
          <p:cNvSpPr/>
          <p:nvPr/>
        </p:nvSpPr>
        <p:spPr>
          <a:xfrm>
            <a:off x="5440680" y="1463040"/>
            <a:ext cx="365760" cy="365760"/>
          </a:xfrm>
          <a:prstGeom prst="ellipse">
            <a:avLst/>
          </a:prstGeom>
          <a:solidFill>
            <a:srgbClr val="EB6834"/>
          </a:solidFill>
          <a:ln w="12700">
            <a:solidFill>
              <a:srgbClr val="EB6834"/>
            </a:solidFill>
            <a:prstDash val="solid"/>
          </a:ln>
        </p:spPr>
      </p:sp>
      <p:sp>
        <p:nvSpPr>
          <p:cNvPr id="13" name="Shape 11"/>
          <p:cNvSpPr/>
          <p:nvPr/>
        </p:nvSpPr>
        <p:spPr>
          <a:xfrm>
            <a:off x="5852160" y="1645920"/>
            <a:ext cx="1645920" cy="0"/>
          </a:xfrm>
          <a:prstGeom prst="line">
            <a:avLst/>
          </a:prstGeom>
          <a:noFill/>
          <a:ln w="25400">
            <a:solidFill>
              <a:srgbClr val="E1E0D9"/>
            </a:solidFill>
            <a:prstDash val="solid"/>
          </a:ln>
        </p:spPr>
      </p:sp>
      <p:sp>
        <p:nvSpPr>
          <p:cNvPr id="14" name="Text 12"/>
          <p:cNvSpPr txBox="1"/>
          <p:nvPr/>
        </p:nvSpPr>
        <p:spPr>
          <a:xfrm>
            <a:off x="4663440" y="1965960"/>
            <a:ext cx="1920240" cy="365760"/>
          </a:xfrm>
          <a:prstGeom prst="rect">
            <a:avLst/>
          </a:prstGeom>
          <a:noFill/>
          <a:ln/>
        </p:spPr>
        <p:txBody>
          <a:bodyPr wrap="square" lIns="0" tIns="0" rIns="0" bIns="0" rtlCol="0" anchor="ctr"/>
          <a:lstStyle/>
          <a:p>
            <a:pPr algn="ctr" indent="0" marL="0">
              <a:buNone/>
            </a:pPr>
            <a:r>
              <a:rPr lang="en-US" sz="1600" b="1" dirty="0">
                <a:solidFill>
                  <a:srgbClr val="EB6834"/>
                </a:solidFill>
                <a:latin typeface="Calibri" pitchFamily="34" charset="0"/>
                <a:ea typeface="Calibri" pitchFamily="34" charset="-122"/>
                <a:cs typeface="Calibri" pitchFamily="34" charset="-120"/>
              </a:rPr>
              <a:t>Semaine 2</a:t>
            </a:r>
            <a:endParaRPr lang="en-US" sz="1600" dirty="0"/>
          </a:p>
        </p:txBody>
      </p:sp>
      <p:sp>
        <p:nvSpPr>
          <p:cNvPr id="15" name="Text 13"/>
          <p:cNvSpPr txBox="1"/>
          <p:nvPr/>
        </p:nvSpPr>
        <p:spPr>
          <a:xfrm>
            <a:off x="4709160" y="2377440"/>
            <a:ext cx="1828800" cy="146304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Dashboard Streamlit interactif (filtres par période, compagnie, heure) · insights · limites</a:t>
            </a:r>
            <a:endParaRPr lang="en-US" sz="1200" dirty="0"/>
          </a:p>
        </p:txBody>
      </p:sp>
      <p:sp>
        <p:nvSpPr>
          <p:cNvPr id="16" name="Shape 14"/>
          <p:cNvSpPr/>
          <p:nvPr/>
        </p:nvSpPr>
        <p:spPr>
          <a:xfrm>
            <a:off x="7543800" y="1463040"/>
            <a:ext cx="365760" cy="365760"/>
          </a:xfrm>
          <a:prstGeom prst="ellipse">
            <a:avLst/>
          </a:prstGeom>
          <a:solidFill>
            <a:srgbClr val="14213D"/>
          </a:solidFill>
          <a:ln w="12700">
            <a:solidFill>
              <a:srgbClr val="14213D"/>
            </a:solidFill>
            <a:prstDash val="solid"/>
          </a:ln>
        </p:spPr>
      </p:sp>
      <p:sp>
        <p:nvSpPr>
          <p:cNvPr id="17" name="Text 15"/>
          <p:cNvSpPr txBox="1"/>
          <p:nvPr/>
        </p:nvSpPr>
        <p:spPr>
          <a:xfrm>
            <a:off x="6766560" y="1965960"/>
            <a:ext cx="1920240" cy="365760"/>
          </a:xfrm>
          <a:prstGeom prst="rect">
            <a:avLst/>
          </a:prstGeom>
          <a:noFill/>
          <a:ln/>
        </p:spPr>
        <p:txBody>
          <a:bodyPr wrap="square" lIns="0" tIns="0" rIns="0" bIns="0" rtlCol="0" anchor="ctr"/>
          <a:lstStyle/>
          <a:p>
            <a:pPr algn="ctr" indent="0" marL="0">
              <a:buNone/>
            </a:pPr>
            <a:r>
              <a:rPr lang="en-US" sz="1600" b="1" dirty="0">
                <a:solidFill>
                  <a:srgbClr val="14213D"/>
                </a:solidFill>
                <a:latin typeface="Calibri" pitchFamily="34" charset="0"/>
                <a:ea typeface="Calibri" pitchFamily="34" charset="-122"/>
                <a:cs typeface="Calibri" pitchFamily="34" charset="-120"/>
              </a:rPr>
              <a:t>Fin</a:t>
            </a:r>
            <a:endParaRPr lang="en-US" sz="1600" dirty="0"/>
          </a:p>
        </p:txBody>
      </p:sp>
      <p:sp>
        <p:nvSpPr>
          <p:cNvPr id="18" name="Text 16"/>
          <p:cNvSpPr txBox="1"/>
          <p:nvPr/>
        </p:nvSpPr>
        <p:spPr>
          <a:xfrm>
            <a:off x="6812280" y="2377440"/>
            <a:ext cx="1828800" cy="146304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Rapport (4-6 pages) · présentation orale · mise en ligne GitHub + dashboard</a:t>
            </a:r>
            <a:endParaRPr lang="en-US" sz="1200" dirty="0"/>
          </a:p>
        </p:txBody>
      </p:sp>
      <p:sp>
        <p:nvSpPr>
          <p:cNvPr id="19" name="Text 17"/>
          <p:cNvSpPr txBox="1"/>
          <p:nvPr/>
        </p:nvSpPr>
        <p:spPr>
          <a:xfrm>
            <a:off x="457200" y="4069080"/>
            <a:ext cx="8229600" cy="502920"/>
          </a:xfrm>
          <a:prstGeom prst="rect">
            <a:avLst/>
          </a:prstGeom>
          <a:noFill/>
          <a:ln/>
        </p:spPr>
        <p:txBody>
          <a:bodyPr wrap="square" lIns="0" tIns="0" rIns="0" bIns="0" rtlCol="0" anchor="ctr"/>
          <a:lstStyle/>
          <a:p>
            <a:pPr algn="ctr" indent="0" marL="0">
              <a:buNone/>
            </a:pPr>
            <a:r>
              <a:rPr lang="en-US" sz="1300" i="1" dirty="0">
                <a:solidFill>
                  <a:srgbClr val="14213D"/>
                </a:solidFill>
                <a:latin typeface="Calibri" pitchFamily="34" charset="0"/>
                <a:ea typeface="Calibri" pitchFamily="34" charset="-122"/>
                <a:cs typeface="Calibri" pitchFamily="34" charset="-120"/>
              </a:rPr>
              <a:t>Objectif : un dashboard qui permet d'explorer quand, où et chez qui les retards apparaissent — et de voir l'effet domino.</a:t>
            </a:r>
            <a:endParaRPr lang="en-US" sz="13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L'effet domino des retards · Rendu d'étape 1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L'effet domino des retards — Rendu d'étape 1</dc:title>
  <dc:subject>PptxGenJS Presentation</dc:subject>
  <dc:creator>PptxGenJS</dc:creator>
  <cp:lastModifiedBy>PptxGenJS</cp:lastModifiedBy>
  <cp:revision>1</cp:revision>
  <dcterms:created xsi:type="dcterms:W3CDTF">2026-09-26T14:02:37Z</dcterms:created>
  <dcterms:modified xsi:type="dcterms:W3CDTF">2026-09-26T14:02:37Z</dcterms:modified>
</cp:coreProperties>
</file>